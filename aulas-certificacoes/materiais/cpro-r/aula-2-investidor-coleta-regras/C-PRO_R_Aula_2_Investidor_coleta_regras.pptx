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aeebc77-213f-872f-7f23-4ef13dd81cdc}">
          <p14:sldIdLst>
            <p14:sldId id="256"/>
            <p14:sldId id="257"/>
            <p14:sldId id="258"/>
          </p14:sldIdLst>
        </p14:section>
        <p14:section name="Bloco 1 · 1.3.1 a 1.3.4" id="{c79674e2-1fbc-8072-00c9-6795407a36f4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Bloco 2 · 1.3.5 a 1.3.7" id="{d80d5d75-1192-1894-9787-a85b73464285}">
          <p14:sldIdLst>
            <p14:sldId id="265"/>
            <p14:sldId id="266"/>
            <p14:sldId id="267"/>
            <p14:sldId id="268"/>
          </p14:sldIdLst>
        </p14:section>
        <p14:section name="Bloco 3 · 1.3.8 a 1.3.10" id="{74bdd8ae-b915-d548-4407-ba439702a9db}">
          <p14:sldIdLst>
            <p14:sldId id="269"/>
            <p14:sldId id="270"/>
            <p14:sldId id="271"/>
            <p14:sldId id="272"/>
          </p14:sldIdLst>
        </p14:section>
        <p14:section name="Bloco 4 · 1.5" id="{3cf401e4-a7f9-398a-d189-cbe56d5d26ba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Bloco 5 · 1.6.1" id="{efa05dc0-ff47-a8bb-f57c-31810d0cf6a1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Bloco 6 · 1.6.2 a 1.6.5" id="{d3d6cdf4-daab-0aa5-239b-d7bc056e7c81}">
          <p14:sldIdLst>
            <p14:sldId id="288"/>
            <p14:sldId id="289"/>
            <p14:sldId id="290"/>
            <p14:sldId id="291"/>
            <p14:sldId id="292"/>
          </p14:sldIdLst>
        </p14:section>
        <p14:section name="Revisão" id="{ffafa8e7-ffa7-0a47-b2ff-fe4b4a6ccf8e}">
          <p14:sldIdLst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
RECURSO VISUAL: Capa com logo X8 e frase-assinatura.
CONDUÇÃO: Boas-vindas. Objetivo da aula: sair do 'o que é' e chegar ao 'o que fazer' em três frentes: entender o investidor brasileiro (1.3), coletar as informações certas do cliente (1.5) e aplicar as regras de relacionamento e distribuição (1.6). Avise que haverá perguntas rápidas e 5 questões autorais no estilo da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Fluxo de 3 cartões numerados, um por item do programa; o terceiro em destaque.
EXPLICAÇÃO: Esta aula fecha o Capítulo 1 do programa: a Aula 1 tratou de 1.1, 1.2 e 1.4. Segundo o programa detalhado vigente (v1.2, vigência a partir de 01/01/2026), o Capítulo 1 representa 20% do programa. O programa não informa peso por subitem, então não diga à turma que um tema 'cai mais' que outro.
CONDUÇÃO: Mostre a lógica da aula: primeiro o retrato do país (estatística), depois a entrevista com o cliente (coleta), por fim as regras que transformam a coleta em recomendação adequada.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Dois cartões de perfil lado a lado com '?' central; faixa com a pergunta para a turma.
EXPLICAÇÃO: Os dois cabem no retrato do investidor brasileiro da pesquisa Raio X (ANBIMA/Datafolha), mas cada um tem objetivo, prazo e conhecimento diferentes. A estatística diz onde procurar; a entrevista diz o que fazer.
CONDUÇÃO: Peça respostas rápidas (voz ou chat). Espera-se que a turma queira sugerir produto. Pare e mostre: antes de produto vêm objetivo, prazo, situação financeira e conhecimento. Essa é a espinha da aula.
NA PROVA: Questões de conduta costumam trazer uma alternativa que já recomenda produto sem coletar informação. Ela tende a ser a 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Três cartões com números grandes; o terceiro em destaque azul.
EXPLICAÇÃO: Fonte: Raio X do Investidor Brasileiro, 9ª edição (ANBIMA/Datafolha; 5.832 entrevistas em novembro de 2025). Perfis da pesquisa: Caderneta 19%, Diversifica 17% (juntos, os 36% de investidores), Sem Reserva 52% e Economiza mas Não Investe 12%.
EXEMPLO: O cliente típico que chega à agência guarda dinheiro, mas na poupança. O traço que a apostila destaca é a preferência por segurança e liquidez, além da baixa educação financeira histórica e da desconfiança de produtos complexos.
CONDUÇÃO: Pergunte: 'Quantos dos seus clientes estão só na poupança?'. Use a resposta para mostrar que o retrato bate com a prática.
NA PROVA: A banca pode trazer o percentual no enunciado, mas a alternativa correta usa o dado para agir (perguntar o objetivo, calcular a perda real), e não apenas repete 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Comparação lado a lado: objetivos (apostila) x destino do dinheiro (Raio X).
EXPLICAÇÃO: 1.3.1: a apostila lista reserva de emergência, aquisição de bens, aposentadoria, educação, empreendedorismo e sonhos pessoais. 1.3.2: no Raio X, apenas 33% conseguiram economizar em 2025; desses, 38% aplicaram, 19% guardaram parado, 7% compraram imóvel e 6% veículo. Entre os investidores, a poupança caiu de 75% para 61% em cinco anos, e os títulos privados subiram de 8% para 20%.
EXEMPLO: Cliente diz 'quero só deixar rendendo'. 'Manter aplicado' (22% no destino do retorno) é objetivo sem finalidade: falta perguntar para quê e até quando.
CONDUÇÃO: Pergunte: 'Qual a diferença entre o objetivo e o destino?'. Objetivo é o porquê; destino é onde o dinheiro foi parar.
NA PROVA: A apostila resume a regra: a clareza do objetivo define o tipo de investimento, o prazo e o risco adequado.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Cartão de conta + balão com a fala da cliente + cartão 'como agir' + faixa 'Na prova'.
EXPLICAÇÃO: A apostila chama a inflação de invisível: o saldo nominal fica 'intacto', mas compra menos. IPCA de setembro de 2026: 4,58% em 12 meses (IBGE, divulgado em 09/10/2026), acima do teto da meta contínua (3% ± 1,5 p.p.).
EXEMPLO: HP12C: 30000 ENTER 1,0458 ÷ → 28.686,17. Na poupança (0,5% a.m. + TR, com Selic acima de 8,5% a.a.), sem TR: f REG 30000 CHS PV 0,5 i 12 n FV → 31.850,33; ÷ 1,0458 → 30.455,47 em poder de compra.
CONDUÇÃO: Faça a conta ao vivo. A frase do slide da X8 resume: 'não investir também é uma decisão'.
NA PROVA: Distrator clássico: subtrair a inflação (30.000 − 5%). Outro: tratar o saldo nominal como poder de compra.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Comparação: benefícios x riscos do digital, com números do Raio X na coluna da esquerda.
EXPLICAÇÃO: Fontes: Raio X 9ª ed. (meios para aplicar: presencial de 43% para 32%, online de 48% para 63%, app de 33% para 46%, entre 2021 e 2025) e nota da ANBIMA de 12/05/2026 (conhecimento de bancos digitais de 23,9% em 2022 para 45,6% em 2025; conta em banco tradicional 73,67% e digital 38,87%, que recuou do pico de 43,78% em 2024).
CONDUÇÃO: Frase para a turma: a barreira de acesso caiu; a barreira de decisão, não. O critério é o serviço do profissional.
NA PROVA: Afirmação falsa típica: 'o banco digital já superou o tradicional como conta do brasileiro' ou 'o digital dispensa orientação profissional'.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Tabela de recortes com uma coluna de dado da pesquisa.
EXPLICAÇÃO: Faixas etárias do Raio X: Geração Z 16–29, Millennials 30–44, Geração X 45–64, Boomers 65+ (a apostila e os slides usam faixas ligeiramente diferentes; siga a do enunciado). Na Geração Z, 23% decidem com amigos e parentes e 11% com influenciadores. Influenciadores pesam 6% na média para decidir. Assistentes de IA já são usados por 9% dos investidores.
EXEMPLO: O slide da X8 diz que 'quanto maior a renda, mais racional a decisão'. Cuidado: maior renda dá mais acesso a assessoria, mas não imuniza contra vieses. A classe AB é a mais atingida por golpes (47%).
CONDUÇÃO: Pergunte: 'Em que canal está o seu público?'. Ligue com a Aula 1 (canais de prospecção).
NA PROVA: Diferencie canal para se INFORMAR (YouTube, Instagram) de meio para DECIDIR (gerente ou assessor). A banca pode trocar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
RECURSO VISUAL: Grade 2x2 de afirmações numeradas.
CONDUÇÃO: Ritmo de jogo. Se errarem a 2, volte ao slide da inflação.
GABARITO: 1 = errado (36% investem). 2 = errado (o poder de compra cai). 3 = errado (66% dos Boomers aplicam presencialmente). 4 = certo (gerente ou assessor, 26%).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Comparação vantagens x barreiras; números do Raio X na coluna da direita.
EXPLICAÇÃO: 1.3.5: a apostila lista rentabilidade real, proteção contra inflação, construção de patrimônio, diversificação, liquidez, acesso a produtos e renda passiva. 1.3.6: no Raio X, entre os que não guardam dinheiro (55% dos não investidores), 82% citam condições financeiras desfavoráveis e 67% falta de dinheiro; desemprego, 6%. A apostila acrescenta medo, consumo imediato, desconfiança, experiências ruins, complexidade, influência de terceiros e falta de hábito.
EXEMPLO: Slide da X8: 'Investir é coisa de rico'. Mostre que um aporte automático pequeno quebra essa crença.
CONDUÇÃO: Pergunte: 'Qual desses motivos vocês mais ouvem?'.
NA PROVA: Em caso de cliente que 'não sobra nada', a alternativa correta trabalha o orçamento e a reserva antes do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Diálogo em 4 balões alternados.
EXPLICAÇÃO: Caso que liga 1.3.6 (barreira de orçamento) a 1.2 (estratégias comportamentais, Aula 1): o aporte automático no dia do recebimento tira a decisão da força de vontade. A reserva vem antes de produto de prazo.
EXEMPLO: Aldenir, 29 anos, motorista de aplicativo, renda média de R$ 2.800, sem dívida em atraso.
CONDUÇÃO: Peça a dois alunos que leiam o diálogo. Pergunte: 'Por que começar pela reserva e não por um fundo?'.
NA PROVA: Distratores típicos: 'explicar que falta de dinheiro é um motivo comum e retomar depois' (só explica) ou 'registrar o cliente como não investidor' (só identifica).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Três cartões numéricos: expectativa, realidade e preparo.
EXPLICAÇÃO: Raio X 9ª ed.: 60% dos não aposentados apontam a previdência pública como fonte principal (piso de 51% em 2022); 15% contam com o próprio salário, 13% com aplicações financeiras, 5% com previdência privada. 93% dos aposentados dependem do INSS. Teto do salário de contribuição em 2026: R$ 8.475,55 (Portaria Interministerial MPS/MF nº 13/2026; dado do Caderno de Roteiros C-Pro R, aula 003).
EXEMPLO: Rogério ganha R$ 12.000 e diz que vai se aposentar pelo INSS. A lacuna é de R$ 3.524,45 por mês (12.000 − 8.475,55), antes mesmo de o benefício ser calculado pela média.
CONDUÇÃO: Pergunte: 'Quem aqui já calculou a própria lacuna?'.
NA PROVA: A alternativa correta dimensiona a lacuna e a transforma em aporte; as erradas só explicam o teto ou citam o percentual da pesquisa.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Quatro cartões das fontes de renda, lado a lado, sem setas (não é sequência).
EXPLICAÇÃO: 1.3.7.1: a reserva de longo prazo exige aportes constantes, disciplina, produtos adequados, proteção contra inflação e gestão do risco conforme a idade (ciclo de vida). 1.3.7.2: a apostila lista as quatro fontes do slide. Slide da X8: 'INSS = Isso Não Será Suficiente' (frase de efeito, use com cuidado).
EXEMPLO: Rogério (slide anterior): lacuna de R$ 3.524,45; a 0,4% a.m. real, o capital que gera essa renda é 3.524,45 ÷ 0,004 = R$ 881.112,50; em 25 anos, f REG 881112,5 FV 0,4 i 300 n PMT → R$ 1.524,25 por mês (premissa didática).
CONDUÇÃO: Mostre que a pergunta certa não é 'você precisa investir', e sim 'você precisa de R$ 1.524 por mês'.
NA PROVA: Afirmação falsa típica: 'o INSS repõe o salário integral de quem ganha acima do teto'.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Três cartões (motivos, impacto, estrato); o primeiro marcador mostra '47%'.
EXPLICAÇÃO: Raio X 9ª ed.: alto estresse em 47% e médio em 48%. Entre os de alto estresse, predominam mulheres (53%), Geração X (37%) e classe DE (39%); 82% não conseguiram economizar em 2025 e 41% têm dívidas em atraso. 1.3.8.2: a apostila lista quando o investimento reduz o estresse (diversificação, plano, entendimento dos riscos, carteira alinhada ao perfil, reserva) e quando aumenta (não entende o produto, volatilidade excessiva, expectativa irreal, decisões por medo ou euforia, falta de acompanhamento).
EXEMPLO: Cliente com perfil conservador que entrou em ações pela dica de um amigo e não dorme na queda: o investimento inadequado virou fonte de estresse.
CONDUÇÃO: Pergunte: 'Um cliente rico pode ter estresse financeiro?'. Resposta: sim, ligado a patrimônio, status e sucessão.
NA PROVA: Falsa típica: 'o estresse financeiro atinge apenas a baixa renda'.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 min
RECURSO VISUAL: Tabela por subitem do programa + faixa 'Na prova'.
EXPLICAÇÃO: Raio X 9ª ed.: 17% fizeram apostas online em 2025 (15% em 2024); renda média do apostador de R$ 5.402, contra R$ 4.627 na média. Quem acha que aposta é investimento gasta mais: R$ 284,81 por mês. Entre os apostadores problemáticos, 82% são da Geração Z ou Millennials e 56% estão na classe C. A apostila lista como motivações: ganhos rápidos, emoção, sensação de controle ('eu conheço esse time'), recuperar perdas, influência de amigos e influenciadores, publicidade e facilidade dos apps.
EXEMPLO: O slide da X8 cita '20 milhões de brasileiros (IBOPE, 2024)'; prefira os dados do Raio X 9ª edição, que são do programa de referência.
CONDUÇÃO: Ligue com a Aula 1 (1.1.7, bets). Aqui o foco é QUEM aposta e POR QUÊ.
NA PROVA: Falsa típica: 'por ser regulada, a aposta é uma forma de investimento'.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Comparação lado a lado; destaque no último item de cada coluna.
EXPLICAÇÃO: 1.3.10.1: a apostila lista as responsabilidades do certificado: orientação alinhada ao perfil, educação contínua, proteção e transparência, responsabilidade ética (diligência, competência, honestidade, imparcialidade). 1.3.10.2: os finfluencers democratizam o acesso, mas não substituem profissionais. Quando um distribuidor contrata um influenciador, as Regras e Procedimentos ANBIMA de Distribuição (Cap. VIII, versão de 13/05/2025) exigem contrato com escopo e remuneração, aviso claro de publicidade (#parceria e nome da instituição) e relação mensal de influenciadores. 1.3.10.3: os riscos são excesso de informação, promessas de retorno rápido (pirâmides, golpes), subestimação de riscos, emoção, mistura de aposta com investimento e ausência de orientação.
EXEMPLO: Raio X: 21% da população já fez curso de educação financeira (33% dos investidores; 37% na classe AB e 8% na DE).
CONDUÇÃO: Pergunte: 'O que vocês fazem quando o cliente chega com o print de um influenciador?'. Resposta: verificar quem indicou, confrontar com o perfil e refazer a recomendação pelo processo formal.
NA PROVA: A alternativa correta não desqualifica o influenciador por princípio: leva a indicação para o processo de adequação.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 min
RECURSO VISUAL: Caso em cartão + 4 alternativas em grade 2x2.
CONDUÇÃO: Dê 1 minuto para resposta individual; depois peça votos por letra.
GABARITO: C.
A) Incorreta. Nenhuma aplicação compensa com segurança o custo do rotativo, e o perfil do cliente não foi avaliado.
B) Incorreta. Ser regulada (Lei 14.790/2023) não torna a aposta investimento; a alternativa só explica e ignora a dívida cara.
C) Correta. Ordem técnica: sanar dívida cara, formar reserva e só então definir produto. O dinheiro das apostas é fluxo que pode acelerar a quitação.
D) Incorreta. Apenas identifica e adia; não muda a situação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Fluxo de 3 cartões por horizonte; o de longo prazo em destaque.
EXPLICAÇÃO: O programa pede objetivos de curto, médio e longo prazo, mas não fixa as faixas. As faixas do slide (até 2 anos; 2 a 5; acima de 5) são as do material X8 (convenção didática). A apostila e as Regras ANBIMA exigem considerar o período do investimento, as preferências de risco e a finalidade.
EXEMPLO: Investimentos típicos (material X8): curto, com Tesouro Selic, CDB com liquidez diária e fundo DI; médio, com CDB intermediário e previdência; longo, com títulos longos, ações, ETFs e previdência.
CONDUÇÃO: Pergunte: 'Um cliente arrojado que vai comprar um carro em 8 meses deve pôr esse dinheiro em ações?'.
NA PROVA: Se a banca der faixas, use as do enunciado. A ideia cobrada é a relação prazo → liquidez → risco tolerável.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Fluxo de 4 cartões, um por subitem do programa.
EXPLICAÇÃO: O programa detalha a definição da situação financeira e do conhecimento em quatro subitens. Eles conversam com a coleta exigida pelas Regras ANBIMA (art. 21, §§ 2º a 5º) e pela CVM 30: objetivo, situação financeira e conhecimento.
CONDUÇÃO: Explique que os próximos slides abrem cada uma das quatro.
NA PROVA: Questões podem pedir em qual dimensão se encaixa uma informação ('tem três filhos' = comprometimento da renda).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Caso em cartão + três cartões de conta (ideal, atual, lacuna).
EXPLICAÇÃO: O programa pede 'reserva de emergência atual versus ideal'. O tamanho ideal depende de gastos fixos, estabilidade da renda e dependentes (slide X8). Autônomo ou renda irregular pede mais meses. Não há número legal: 6 a 12 meses é regra prática.
EXEMPLO: HP12C: 6000 ENTER 6 × → 36.000; 12000 ENTER 6000 ÷ → 2; 36000 ENTER 12000 − → 24.000.
CONDUÇÃO: Pergunte: 'E se Paula fosse autônoma?'. Espera-se: aumentar a meta.
NA PROVA: Falta de liquidez = risco de vender investimentos na hora errada. A alternativa correta trata a lacuna da reserva antes de produtos de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Diálogo em 4 balões + dois cartões de leitura técnica.
EXPLICAÇÃO: 1.5.2.2: conhecimento = tipos de produto que conhece e experiência. 1.5.2.3: origem dos recursos é também requisito de prevenção à lavagem de dinheiro (slide X8); fonte atual de renda ativa e sua estabilidade. 1.5.2.4: comprometimento = dependentes, custos fixos e variáveis, dívidas e contribuição para previdência, para chegar à capacidade de poupança real.
EXEMPLO: Leitura do caso: muito patrimônio, pouco conhecimento, renda irregular e dois dependentes. Patrimônio alto não é sinônimo de perfil arrojado.
CONDUÇÃO: Pergunte: 'Que perfil vocês dariam? Por quê?'. Mostre que conhecimento e situação financeira entram juntos.
NA PROVA: Falsa típica: 'quem tem patrimônio elevado pode ser classificado como arrojado sem avaliar conhecimento'.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
RECURSO VISUAL: Grade 2x2 de falas de cliente.
CONDUÇÃO: Respostas rápidas em voz alta.
GABARITO: 1 = comprometimento da renda (dependentes e custos). 2 = conhecimento e experiência. 3 = origem dos recursos. 4 = liquidez (reserva atual).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Caso em cartão + 4 alternativas em grade 2x2.
CONDUÇÃO: Peça que a turma identifique o prazo antes de olhar as alternativas.
GABARITO: D.
A) Incorreta. O perfil não dispensa a análise do objetivo: a adequação considera objetivo, situação financeira e conhecimento.
B) Incorreta. A reserva protege contra imprevistos, mas não muda a data do objetivo do carro.
C) Incorreta. Nada indica erro no perfil; o cliente pode ser arrojado e ter um objetivo de curto prazo.
D) Correta. Objetivo de curto prazo pede liquidez e previsibilidade, independentemente do apetite a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Cartão 'o que é' + cartão dos anexos + cartão de prevalência + faixa 'Na prova'.
EXPLICAÇÃO: Regras e Procedimentos do Código de Distribuição, versão de 13/05/2025 (conferida na ANBIMA), Cap. I, art. 1º: complementam o Código; a Parte Geral vale para a distribuição de todos os produtos; os Anexos trazem regras específicas (I private, II fundos, III modelos de transferência); só o Fórum de Distribuição modifica; em divergência, prevalecem os Anexos.
EXEMPLO: Atenção à numeração: o programa (elaborado em 2024) cita Conheça seu Cliente no Cap. III, Suitability no Cap. IV e Transferência no Cap. IX. Na versão de 2025 eles estão nos Caps. IV, V e X, porque foi incluído um capítulo sobre a divulgação da remuneração.
CONDUÇÃO: Diga à turma que, na prova, o enunciado costuma citar o tema, e não o número do capítulo.
NA PROVA: Pegadinha possível: 'a Parte Geral prevalece sobre os Anexos'. É o contrário.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Grade 2x2, um cartão por seção (I a IV).
EXPLICAÇÃO: Cap. II das Regras ANBIMA (versão de 13/05/2025): art. 2º (seção I), art. 3º (conteúdo mínimo do site: objetivo/estratégia, público-alvo, carência e prazo, emissor, tributação, classificação do produto, principais riscos de liquidez, mercado e crédito, aviso de remuneração), art. 4º (canais de atendimento compatíveis com o porte), art. 5º (canais digitais; trilhas de auditoria retidas por no mínimo 5 anos), art. 6º (remuneração, detalhada no Cap. III: informe de investimento e extrato trimestral).
EXEMPLO: Aviso obrigatório no site: 'A instituição é remunerada pela Distribuição do produto. Para mais informações, consulte o documento disponível em...'.
CONDUÇÃO: Pergunte: 'Por que a regra proíbe o distribuidor de se apresentar como consultor independente?'. Resposta: conflito de interesses, porque ele é remunerado pelo produto.
NA PROVA: Números que podem aparecer: retenção da trilha de auditoria por no mínimo 5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Layout padrão de conceito (o que é, fala do cliente, como agir) + faixa 'Na prova'.
EXPLICAÇÃO: Regras ANBIMA, Cap. IV (versão 2025; Cap. III no programa), arts. 18 e 19: documento escrito ou eletrônico, compatível com natureza, porte, complexidade e perfil de risco, com no mínimo os seis itens do slide; cadastro atualizado permite identificar o cliente e registrar todas as aplicações e resgates.
EXEMPLO: Beneficiário final: a pessoa natural por trás de uma empresa cliente.
CONDUÇÃO: Pergunte a diferença entre KYC e suitability; use a faixa.
NA PROVA: Distrator: tratar KYC e suitability como sinônimos.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Comparação: regra geral x dispensas.
EXPLICAÇÃO: Regras ANBIMA, Cap. V (versão 2025; Cap. IV no programa), art. 20 e parágrafo único; art. 21 (documento com mecanismo de coleta, critérios de perfil e de produto, comunicação do perfil e do desenquadramento, aferição periódica, atualização e controles). Coleta (art. 21, §§ 3º a 5º): período do investimento, preferências de risco e finalidade; receitas, patrimônio e necessidade futura de recursos; produtos conhecidos, volume e frequência das operações, formação e experiência. Art. 22: produtos automáticos têm suitability simplificado por declaração assinada, salvo se baseados em valor mobiliário.
EXEMPLO: CDB pós-fixado de banco grande com liquidez diária: dispensado. CDB prefixado de 3 anos: precisa de suitability.
CONDUÇÃO: Teste: 'CDB pós-fixado, liquidez diária, emissor de rating baixo: está dispensado?'. Não: falha o critério do emissor.
NA PROVA: A banca pode trocar um dos três critérios do CDB/RDB.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Fluxo de 4 etapas com a declaração em destaque.
EXPLICAÇÃO: Regras ANBIMA, art. 23 (versão 2025): vedada a recomendação nos três casos; antes da primeira aplicação com a categoria de ativo, alertar com as causas e obter declaração expressa, exclusiva para cada categoria; as declarações têm prazo máximo de 5 anos para atualização. Cliente que se recusa a fazer o perfil é tratado como 'sem perfil identificado' (art. 21, § 7º). A Res. CVM 30, arts. 6º e 7º, traz a mesma lógica.
EXEMPLO: Cliente conservadora quer um fundo multimercado indicado num vídeo: alerta, causa da divergência, declaração para a categoria 'FIF multimercado'.
CONDUÇÃO: Pergunte: 'Se ela aplicar de novo no mesmo tipo de fundo no mês seguinte, precisa de nova declaração?'. Pela regra, a declaração é por categoria e antes da primeira aplicação nela.
NA PROVA: Distratores: recusar automaticamente a ordem; executar sem alerta; reclassificar o perfil para acomodar 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Tabela de 3 perfis com o limite de pontuação em destaque.
EXPLICAÇÃO: Regras ANBIMA, art. 24 (versão 2025): mínimo de três perfis; limites de 1,5, 3 e 5 quando a adequação é por produto (§ 1º); por portfólio, a média ponderada da carteira deve respeitar os mesmos limites (§ 2º). Classificação automática no Perfil 1 (§§ 3º a 5º): cadastro atualizado, sem investimento prévio incompatível e sem perfil concluído; o cliente deve ser comunicado e instruído a completar o processo, antes de qualquer recomendação. Art. 28: escala contínua de 0,5 a 5, considerando no mínimo os riscos de crédito, mercado e liquidez.
EXEMPLO: Pontuação mínima (art. 29): CDB de emissor grau de investimento, pós-fixado, até 2 anos = 0,75; prefixado = 1,00.
CONDUÇÃO: Mostre que o perfil 'conservador' aceita produto de até 1,5: não é só renda fixa pós-fixada.
NA PROVA: Questões de cálculo podem pedir a média ponderada da carteira (veja a questão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1,5 min
RECURSO VISUAL: Comparação: critérios x categorias.
EXPLICAÇÃO: Regras ANBIMA, art. 25 (critérios), art. 26 (atualização em prazo não superior ao da regulação), arts. 28 e 29 (escala e pontuações mínimas obrigatórias) e art. 31 (categorias mínimas). A CVM 30, art. 9º, II, fixa a reclassificação das categorias em até 24 meses. As categorias são a base da declaração 'por categoria de ativo' do slide anterior.
EXEMPLO: Produtos complexos têm regras específicas (Subseção III), que ressaltam os riscos da estrutura e a dificuldade de precificação.
CONDUÇÃO: Ligue as categorias à declaração expressa: a declaração vale por categoria.
NA PROVA: Não confunda os 24 meses dos PRODUTOS com o prazo do PERFIL do cliente (até 5 anos, conforme o cadastro).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Caso numérico + 4 alternativas.
CONDUÇÃO: Peça a conta antes de olhar as alternativas: 0,5 × 1,0 + 0,3 × 3,5 + 0,2 × 4,0. HP12C: 0,5 ENTER 1 × 0,3 ENTER 3,5 × + 0,2 ENTER 4 × + → 2,35.
GABARITO: B.
A) Incorreta. Esse raciocínio vale para a adequação produto a produto, mas o enunciado diz que a metodologia é por portfólio.
B) Correta. 0,50 + 1,05 + 0,80 = 2,35 ≤ 3 (Regras ANBIMA, art. 24, § 2º).
C) Incorreta. A média simples ignora os pesos: (1,0 + 3,5 + 4,0) ÷ 3 = 2,83.
D) Incorreta. 3,5 é a pontuação de um produto, e não a média da carteira.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Fluxo de 4 etapas do cedente ao cessionário.
EXPLICAÇÃO: Regras ANBIMA, Cap. X (versão 2025; Cap. IX no programa), arts. 52 a 54: transferência de cotas de classes de fundos e de custódia dos demais produtos, de mesma titularidade; pedido ao cedente; site e canal de atendimento sobre o processo; obrigações do cedente; seis hipóteses de recusa. Cedente = de onde sai; cessionário = para onde vai.
EXEMPLO: Cliente quer levar CDBs e cotas de fundo para outra corretora: pede ao cedente; se houver resgate ainda não liquidado, a transferência pode ser recusada até a liquidação.
CONDUÇÃO: Ligue com a Aula 1 (portabilidade e desintermediação).
NA PROVA: Pegadinha: trocar cedente por cessionário, ou dizer que a transferência exige vender os 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 min
RECURSO VISUAL: Cartão dos três testes + cartão de prazos + cartão de dispensas + faixa 'Na prova'.
EXPLICAÇÃO: Res. CVM 30/2021 (texto consolidado conferido): art. 2º (não recomendar sem verificar a adequação); art. 3º (objetivos, situação financeira, conhecimento); art. 6º (vedações); art. 7º (alerta com causas e declaração expressa antes da primeira operação com a categoria; dispensado se o cliente segue consultor CVM); art. 9º (perfil atualizado na periodicidade do cadastro de PLD, intervalo máximo de 5 anos; reclassificação das categorias em até 24 meses); art. 10 (dispensas).
EXEMPLO: O slide X8 sobre KYC diz 'atualizar o perfil em até 24 meses'. Isso está errado: os 24 meses são da classificação dos produtos. As próprias Regras ANBIMA mandam atualizar o perfil 'em prazo não superior ao permitido pela regulação'.
CONDUÇÃO: Escreva na lousa: PERFIL ≤ 5 anos | PRODUTO ≤ 24 meses.
NA PROVA: Investidor qualificado (CVM 30): investimentos acima de R$ 1 milhão com declaração, ou aprovado em exames e certificações aceitos pela CVM. Profissional: acima de R$ 10 milhões com declaração. Esse tema é aprofundado no item 2.4.7.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Tabela-síntese das cinco normas do item 1.6.
EXPLICAÇÃO: A tabela é o mapa do bloco. CMN 4.949/2021 e BCB 155/2021 têm a mesma espinha (ética, responsabilidade, transparência, diligência), mas públicos diferentes: a BCB 155 nasceu para administradoras de consórcio e instituições de pagamento e, pelo texto atualizado (alterações de 2024 e 2026, conferidas em fonte secundária), alcança também corretoras, distribuidoras, corretoras de câmbio e prestadoras de serviços de ativos virtuais.
CONDUÇÃO: Peça à turma que diga, para cada caso, qual norma se aplica: um banco, uma instituição de pagamento, uma corretora recomendando ações.
NA PROVA: A banca pode trocar o órgão (ex.: 'Resolução CVM 4.949'). CMN 4.949 é do Conselho Monetário Nacional.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Fluxo de 4 cartões com 'metas' em destaque.
EXPLICAÇÃO: Resolução CMN 4.949/2021 (princípios e procedimentos no relacionamento com clientes e usuários): princípios (art. 2º); cultura organizacional e tratamento justo, considerando perfis e vulnerabilidades; procedimentos de contratação e prestação de serviços (art. 4º: adequação, integridade, informação clara sobre direitos, deveres, custos, riscos e penalidades, redação compreensível, atendimento sem barreiras para cancelar e transferir); política institucional de relacionamento (art. 6º); gerenciamento da política (art. 7º); metas e incentivos alinhados (art. 8º), conforme o material X8. Texto integral não reaberto nesta sessão.
EXEMPLO: Banco que paga bônus só pelo volume de um produto de risco, para qualquer cliente, cria incentivo desalinhado.
CONDUÇÃO: Pergunte: 'Já viram campanha de vendas que conflita com o perfil do cliente?'.
NA PROVA: A CVM 30 trata da adequação ao perfil; a CMN 4.949, da conduta e da estrutura do relacionamento. As duas se complementam.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Comparação: BCB 155 x Resolução Conjunta 8/2023.
EXPLICAÇÃO: 1.6.4: Res. BCB 155, de 14/10/2021, sobre princípios e procedimentos no relacionamento; vigência a partir de 01/03/2022 (com efeitos em 01/10/2022 para parte das instituições). 1.6.5: o programa cita a 'Resolução Conjunta BCB e CMN de 08/2023'; trata-se da Resolução Conjunta nº 8, de 21/12/2023, sobre educação financeira (instituições financeiras, de pagamento e demais autorizadas pelo BCB, para clientes pessoa natural e empresário individual), em vigor desde 01/07/2024 (fonte secundária). O '08/2023' do programa é o número da norma, e não um mês.
EXEMPLO: Uma instituição que só oferece educação financeira como anúncio de produto não cumpre o princípio de 'valor para o cliente'.
CONDUÇÃO: Ligue com 1.3.10: a norma institucionaliza o papel educativo que vimos no bloco 3.
NA PROVA: Pegadinha: atribuir a educação financeira obrigatória à CVM ou à ANBIMA.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2,5 min
RECURSO VISUAL: Caso em cartão + 4 alternativas em grade 2x2.
CONDUÇÃO: Pergunte primeiro: 'Qual é o problema da campanha?' (incentivo desalinhado do interesse do cliente).
GABARITO: A.
A) Correta. A norma exige que metas e incentivos sejam compatíveis com a política institucional de relacionamento, que tem a adequação e o tratamento justo como base.
B) Incorreta. A norma trata expressamente de incentivos e metas.
C) Incorreta. A adequação é dever da instituição (e, na distribuição de valores mobiliários, também da CVM 30).
D) Incorreta. Exagero: o fundo pode ser adequado a parte dos clientes; o problema é o incentivo, não 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Lista numerada de 5 aprendizados.
CONDUÇÃO: Leia rapidamente e peça um exemplo de cliente para cada ideia. Reforce o ponto 4 como estratégia de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
RECURSO VISUAL: Grade 2x2 de situações numeradas.
CONDUÇÃO: Ritmo de jogo; se houver erro, volte à tabela 'Quem regula o quê'.
GABARITO: 1 = Res. BCB 155/2021. 2 = alerta com causas + declaração expressa (CVM 30, art. 7º; ANBIMA, art. 23). 3 = Res. Conjunta 8/2023. 4 = dispensado de suitability pelas Regras ANBIMA (critérios cumulativos atendidos).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 min
RECURSO VISUAL: Caso longo em cartão + 4 alternativas.
CONDUÇÃO: Peça primeiro que a turma liste os problemas do caso: perfil desatualizado (mais de 5 anos), baixo conhecimento, recurso novo de origem específica, produto complexo vindo de vídeo.
GABARITO: C.
A) Incorreta. Investidor qualificado exige investimentos acima de R$ 1 milhão e declaração por escrito (CVM 30); herança de R$ 800 mil não basta, e a condição não é automática.
B) Incorreta. A norma não manda recusar e encerrar: manda atualizar o perfil ou, se a cliente insistir, alertar e obter declaração.
C) Correta. Com perfil desatualizado é vedado recomendar (CVM 30, art. 6º; ANBIMA, art. 23). A coleta inclui objetivos, situação financeira (inclusive a origem dos recursos, item 1.5.2.3) e conhecimento (1.5.2.2), decisivo num produto complexo.
D) Incorreta. A iniciativa da cliente não dispensa o alerta e a declaração exigidos para ordens fora do perfil ou sem perfil atualizado.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
RECURSO VISUAL: Encerramento no layout da capa.
CONDUÇÃO: Agradeça, indique os exercícios de fixação e abra espaço para dúvidas, se houver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8_CAPA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incipal/aulas-certificacoes/materiais/cpro-r/aula-2-investidor-coleta-regras/logo-x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143000"/>
            <a:ext cx="18288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8_CONTEUDO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incipal/aulas-certificacoes/materiais/cpro-r/aula-2-investidor-coleta-regras/logo-x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2" y="16459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4"/>
                </a:solidFill>
              </a:rPr>
              <a:t>X8 EDUCAÇÃO  ·  C-PRO R  ·  AULA 2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C-PRO R  ·  AULA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o investidor, como conhecê-lo e que regras seguir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1.3, 1.5 e 1.6 do programa detalhado ANBIMA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foco é aprender. A aprovação é consequência.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guiam os 90 minutos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48128" cy="2514600"/>
          </a:xfrm>
          <a:prstGeom prst="roundRect">
            <a:avLst>
              <a:gd name="adj" fmla="val 254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o investidor brasileiro?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22280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Objetivos, destino do dinheiro, inflação, bancos digitais, aposentadoria, estresse, apostas e educação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1.3</a:t>
            </a:r>
            <a:endParaRPr lang="en-US" sz="1300" dirty="0"/>
          </a:p>
        </p:txBody>
      </p:sp>
      <p:sp>
        <p:nvSpPr>
          <p:cNvPr id="9" name="seta"/>
          <p:cNvSpPr/>
          <p:nvPr/>
        </p:nvSpPr>
        <p:spPr>
          <a:xfrm>
            <a:off x="3069336" y="242773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3297936" y="1280160"/>
            <a:ext cx="2548128" cy="2514600"/>
          </a:xfrm>
          <a:prstGeom prst="roundRect">
            <a:avLst>
              <a:gd name="adj" fmla="val 254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marcador"/>
          <p:cNvSpPr/>
          <p:nvPr/>
        </p:nvSpPr>
        <p:spPr>
          <a:xfrm>
            <a:off x="3480816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8081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80816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conhecer o meu cliente?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80816" y="2468880"/>
            <a:ext cx="22280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por prazo, liquidez, conhecimento, origem dos recursos e comprometimento da renda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1.5</a:t>
            </a:r>
            <a:endParaRPr lang="en-US" sz="1300" dirty="0"/>
          </a:p>
        </p:txBody>
      </p:sp>
      <p:sp>
        <p:nvSpPr>
          <p:cNvPr id="15" name="seta"/>
          <p:cNvSpPr/>
          <p:nvPr/>
        </p:nvSpPr>
        <p:spPr>
          <a:xfrm>
            <a:off x="5910072" y="242773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6138672" y="1280160"/>
            <a:ext cx="2548128" cy="2514600"/>
          </a:xfrm>
          <a:prstGeom prst="roundRect">
            <a:avLst>
              <a:gd name="adj" fmla="val 2545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marcador"/>
          <p:cNvSpPr/>
          <p:nvPr/>
        </p:nvSpPr>
        <p:spPr>
          <a:xfrm>
            <a:off x="6321552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155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21552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regras eu sigo?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21552" y="2468880"/>
            <a:ext cx="22280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ANBIMA de Distribuição, CVM 30, CMN 4.949, BCB 155 e Res. Conjunta 8/2023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1.6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59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do programa (Prospecção e relacionamento com a pessoa investidora) = 20% do programa da C-PRO 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AQUECIMENTO · PERGUNTA RÁPIDA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Avó e neto, a mesma pergunta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chegam juntos à agência e perguntam: "Onde devo investir?"</a:t>
            </a:r>
            <a:endParaRPr lang="en-US" sz="1350" dirty="0"/>
          </a:p>
        </p:txBody>
      </p:sp>
      <p:sp>
        <p:nvSpPr>
          <p:cNvPr id="5" name="card"/>
          <p:cNvSpPr/>
          <p:nvPr/>
        </p:nvSpPr>
        <p:spPr>
          <a:xfrm>
            <a:off x="457200" y="1554480"/>
            <a:ext cx="3977640" cy="22402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709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 Lúcia, 67 anos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 mil na poupança "porque é seguro"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 falar com o gerente na agência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deixar uma reserva para a família</a:t>
            </a:r>
            <a:endParaRPr lang="en-US" sz="1350" dirty="0"/>
          </a:p>
        </p:txBody>
      </p:sp>
      <p:sp>
        <p:nvSpPr>
          <p:cNvPr id="8" name="card"/>
          <p:cNvSpPr/>
          <p:nvPr/>
        </p:nvSpPr>
        <p:spPr>
          <a:xfrm>
            <a:off x="4709160" y="1554480"/>
            <a:ext cx="3977640" cy="22402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37760" y="1709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Kauã, 22 anos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tudo pelo app, seguindo vídeos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dar entrada num apartamento em 3 anos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falou com um especialista</a:t>
            </a:r>
            <a:endParaRPr lang="en-US" sz="1350" dirty="0"/>
          </a:p>
        </p:txBody>
      </p:sp>
      <p:sp>
        <p:nvSpPr>
          <p:cNvPr id="11" name="marcador"/>
          <p:cNvSpPr/>
          <p:nvPr/>
        </p:nvSpPr>
        <p:spPr>
          <a:xfrm>
            <a:off x="4288536" y="2482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88536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primeira pergunta que você faz a cada um? Responda antes de pensar em produto.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1.3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retrato do investidor brasileiro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população tem algum produto financeiro: 60,6 milhões de pessoas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3273552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INVESTEM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107,7 milhões; 52% da população não guarda dinheiro de forma nenhuma</a:t>
            </a:r>
            <a:endParaRPr lang="en-US" sz="1250" dirty="0"/>
          </a:p>
        </p:txBody>
      </p:sp>
      <p:sp>
        <p:nvSpPr>
          <p:cNvPr id="12" name="card"/>
          <p:cNvSpPr/>
          <p:nvPr/>
        </p:nvSpPr>
        <p:spPr>
          <a:xfrm>
            <a:off x="6089904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91072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NA POUPANÇA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população investe apenas na caderneta: mais da metade dos investidores</a:t>
            </a:r>
            <a:endParaRPr lang="en-US" sz="1250" dirty="0"/>
          </a:p>
        </p:txBody>
      </p:sp>
      <p:sp>
        <p:nvSpPr>
          <p:cNvPr id="16" name="na-prova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94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79476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de pesquisa é ponto de partida. Na prova, a conduta correta é sempre individual.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1.3.1 E 1.3.2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poupa e o que faz com o que poupa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para poupar (1.3.1)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emergência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de bens: casa, carro, reforma, viagem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Aposentadoria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e empreendedorismo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470916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Destino da economia (1.3.2)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aplicaram em produtos financeiros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guardaram sem aplicar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compraram imóvel; 6% veículo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mais usado: poupança (22% da população)</a:t>
            </a:r>
            <a:endParaRPr lang="en-US" sz="1350" dirty="0"/>
          </a:p>
        </p:txBody>
      </p:sp>
      <p:sp>
        <p:nvSpPr>
          <p:cNvPr id="10" name="marcador"/>
          <p:cNvSpPr/>
          <p:nvPr/>
        </p:nvSpPr>
        <p:spPr>
          <a:xfrm>
            <a:off x="4288536" y="23225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confunda: 'comprar imóvel' (32%) é o destino do RETORNO das aplicações, não do dinheiro economizado no ano.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1.3.3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Inflação: o dinheiro parado encolhe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840480" cy="2377440"/>
          </a:xfrm>
          <a:prstGeom prst="roundRect">
            <a:avLst>
              <a:gd name="adj" fmla="val 2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89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compra = valor ÷ (1 + inflação).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Marlene: R$ 30.000 parados 12 meses, IPCA de 4,58%.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30.000 ÷ 1,0458 = R$ 28.686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Perdeu R$ 1.314 sem ver nada sair.</a:t>
            </a:r>
            <a:endParaRPr lang="en-US" sz="1350" dirty="0"/>
          </a:p>
        </p:txBody>
      </p:sp>
      <p:sp>
        <p:nvSpPr>
          <p:cNvPr id="7" name="fala"/>
          <p:cNvSpPr/>
          <p:nvPr/>
        </p:nvSpPr>
        <p:spPr>
          <a:xfrm>
            <a:off x="4526280" y="1234440"/>
            <a:ext cx="41605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27448" y="1344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FALA DO CLIENTE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27448" y="15727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perdi nada: o saldo continua o mesmo."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526280" y="2487168"/>
            <a:ext cx="4160520" cy="1124712"/>
          </a:xfrm>
          <a:prstGeom prst="roundRect">
            <a:avLst>
              <a:gd name="adj" fmla="val 5691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27448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AGIR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81635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ganho nominal x real com a conta da cliente e o custo de não investir.</a:t>
            </a:r>
            <a:endParaRPr lang="en-US" sz="1300" dirty="0"/>
          </a:p>
        </p:txBody>
      </p:sp>
      <p:sp>
        <p:nvSpPr>
          <p:cNvPr id="13" name="na-prova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79476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real se calcula DIVIDINDO pela inflação, não subtraindo. Real = (1 + nominal) ÷ (1 + inflação) − 1.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1.3.4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Bancos digitais: o acesso caiu, a decisão não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digital trouxe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fácil e tarifas menores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online: de 48% para 63% dos investidores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 banco: de 33% para 46%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 bancos digitais: de 24% para 46%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470916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do digital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rápidas e impulsivas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gamificados e notificações (nudges)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a produtos inadequados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filtrar informação</a:t>
            </a:r>
            <a:endParaRPr lang="en-US" sz="1350" dirty="0"/>
          </a:p>
        </p:txBody>
      </p:sp>
      <p:sp>
        <p:nvSpPr>
          <p:cNvPr id="10" name="marcador"/>
          <p:cNvSpPr/>
          <p:nvPr/>
        </p:nvSpPr>
        <p:spPr>
          <a:xfrm>
            <a:off x="4288536" y="23225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em banco tradicional ainda lidera: 73,7% x 38,9% em banco digital. O cliente chega com o app instalado, mas sem critério.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1.3.4.1 A 1.3.4.3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Geração, renda e canais de informação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566160"/>
                <a:gridCol w="30175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comporta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 da pesquisa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retorno, diversifica, ouve amigos e influenciadores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 aplicam online; 66% têm conta digital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Agência, segurança, poupança, gerente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 aplicam presencialmente; 7% conta digital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renda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como porta de entrada; poupança e caixinhas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DE: 2% aplicaram em produtos financeiros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renda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como complemento; mantém assessoria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AB: 24% aplicaram em produtos financeiros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se informar: YouTube lidera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decidir: gerente ou assessor (26%)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PERGUNTA RÁPIDA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Certo ou errado?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0700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621792" y="13441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8249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maioria dos brasileiros investe em produtos financeiros."</a:t>
            </a:r>
            <a:endParaRPr lang="en-US" sz="1350" dirty="0"/>
          </a:p>
        </p:txBody>
      </p:sp>
      <p:sp>
        <p:nvSpPr>
          <p:cNvPr id="8" name="card"/>
          <p:cNvSpPr/>
          <p:nvPr/>
        </p:nvSpPr>
        <p:spPr>
          <a:xfrm>
            <a:off x="4709160" y="120700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4873752" y="13441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73752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8249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o saldo nominal não caiu, não houve perda."</a:t>
            </a:r>
            <a:endParaRPr lang="en-US" sz="1350" dirty="0"/>
          </a:p>
        </p:txBody>
      </p:sp>
      <p:sp>
        <p:nvSpPr>
          <p:cNvPr id="12" name="card"/>
          <p:cNvSpPr/>
          <p:nvPr/>
        </p:nvSpPr>
        <p:spPr>
          <a:xfrm>
            <a:off x="457200" y="253288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marcador"/>
          <p:cNvSpPr/>
          <p:nvPr/>
        </p:nvSpPr>
        <p:spPr>
          <a:xfrm>
            <a:off x="621792" y="26700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0083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"Boomers aplicam principalmente pelo aplicativo."</a:t>
            </a:r>
            <a:endParaRPr lang="en-US" sz="1350" dirty="0"/>
          </a:p>
        </p:txBody>
      </p:sp>
      <p:sp>
        <p:nvSpPr>
          <p:cNvPr id="16" name="card"/>
          <p:cNvSpPr/>
          <p:nvPr/>
        </p:nvSpPr>
        <p:spPr>
          <a:xfrm>
            <a:off x="4709160" y="253288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marcador"/>
          <p:cNvSpPr/>
          <p:nvPr/>
        </p:nvSpPr>
        <p:spPr>
          <a:xfrm>
            <a:off x="4873752" y="26700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0083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"Para decidir, o gerente ainda é o meio mais citado."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segundos para cada. Polegar para cima ou para baixo.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1.3.5 E 1.3.6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investir e por que não investe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de aplicar (1.3.5)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real positiva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a inflação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para diferentes horizontes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e renda futura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470916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investe (1.3.6)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82%: condições financeiras desfavoráveis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67%: falta de dinheiro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 de perder e desconfiança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educação financeira e falta de hábito</a:t>
            </a:r>
            <a:endParaRPr lang="en-US" sz="1350" dirty="0"/>
          </a:p>
        </p:txBody>
      </p:sp>
      <p:sp>
        <p:nvSpPr>
          <p:cNvPr id="10" name="marcador"/>
          <p:cNvSpPr/>
          <p:nvPr/>
        </p:nvSpPr>
        <p:spPr>
          <a:xfrm>
            <a:off x="4288536" y="23225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barreira mais declarada é orçamento, não produto. 33% guardaram em 2025, mas só 12% da população guarda e não investe.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SITUAÇÃO PRÁTICA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"Nunca sobra nada para investir"</a:t>
            </a:r>
            <a:endParaRPr lang="en-US" sz="2400" dirty="0"/>
          </a:p>
        </p:txBody>
      </p:sp>
      <p:sp>
        <p:nvSpPr>
          <p:cNvPr id="4" name="balao"/>
          <p:cNvSpPr/>
          <p:nvPr/>
        </p:nvSpPr>
        <p:spPr>
          <a:xfrm>
            <a:off x="457200" y="1207008"/>
            <a:ext cx="585216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07008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 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tentei investir duas vezes. Desisti: no fim do mês nunca sobra.</a:t>
            </a:r>
            <a:endParaRPr lang="en-US" sz="1000" dirty="0"/>
          </a:p>
        </p:txBody>
      </p:sp>
      <p:sp>
        <p:nvSpPr>
          <p:cNvPr id="6" name="balao"/>
          <p:cNvSpPr/>
          <p:nvPr/>
        </p:nvSpPr>
        <p:spPr>
          <a:xfrm>
            <a:off x="2834640" y="1883664"/>
            <a:ext cx="5852160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5808" y="1883664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 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sobra nos meses bons? E em que dia cai o seu pagamento?</a:t>
            </a:r>
            <a:endParaRPr lang="en-US" sz="1000" dirty="0"/>
          </a:p>
        </p:txBody>
      </p:sp>
      <p:sp>
        <p:nvSpPr>
          <p:cNvPr id="8" name="balao"/>
          <p:cNvSpPr/>
          <p:nvPr/>
        </p:nvSpPr>
        <p:spPr>
          <a:xfrm>
            <a:off x="457200" y="2560320"/>
            <a:ext cx="585216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60320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 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 R$ 90, às vezes. E acabo gastando antes do mês seguinte.</a:t>
            </a:r>
            <a:endParaRPr lang="en-US" sz="1000" dirty="0"/>
          </a:p>
        </p:txBody>
      </p:sp>
      <p:sp>
        <p:nvSpPr>
          <p:cNvPr id="10" name="balao"/>
          <p:cNvSpPr/>
          <p:nvPr/>
        </p:nvSpPr>
        <p:spPr>
          <a:xfrm>
            <a:off x="2834640" y="3236976"/>
            <a:ext cx="5852160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3236976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 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programar R$ 90 automáticos no dia do pagamento, numa reserva com liquidez diária.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1.3.7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Aposentadoria: expectativa x realidade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 COM O INSS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não aposentados esperam viver da previdência pública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3273552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DEPENDEM DO INSS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já aposentados dependem dele na prática</a:t>
            </a:r>
            <a:endParaRPr lang="en-US" sz="1250" dirty="0"/>
          </a:p>
        </p:txBody>
      </p:sp>
      <p:sp>
        <p:nvSpPr>
          <p:cNvPr id="12" name="card"/>
          <p:cNvSpPr/>
          <p:nvPr/>
        </p:nvSpPr>
        <p:spPr>
          <a:xfrm>
            <a:off x="6089904" y="1234440"/>
            <a:ext cx="2596896" cy="2423160"/>
          </a:xfrm>
          <a:prstGeom prst="roundRect">
            <a:avLst>
              <a:gd name="adj" fmla="val 264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91072" y="13716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COMEÇARAM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169164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51460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número da série histórica; 57% pretendem, 27% nem pretendem</a:t>
            </a:r>
            <a:endParaRPr lang="en-US" sz="1250" dirty="0"/>
          </a:p>
        </p:txBody>
      </p:sp>
      <p:sp>
        <p:nvSpPr>
          <p:cNvPr id="16" name="na-prova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94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79476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INSS tem teto. Quem ganha acima dele tem uma lacuna de renda que só a reserva de longo prazo cobre.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1.3.7.1 E 1.3.7.2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de longo prazo e fontes de renda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com teto e reajuste definido pelo governo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2587752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marcador"/>
          <p:cNvSpPr/>
          <p:nvPr/>
        </p:nvSpPr>
        <p:spPr>
          <a:xfrm>
            <a:off x="2770632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7063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Previdência complementar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PGBL, VGBL, fundos de pensão: renda ou resgates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718304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marcador"/>
          <p:cNvSpPr/>
          <p:nvPr/>
        </p:nvSpPr>
        <p:spPr>
          <a:xfrm>
            <a:off x="4901184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0118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01184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Investimentos financeiros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fixa, ações, FII, dividendos, fundos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6848856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marcador"/>
          <p:cNvSpPr/>
          <p:nvPr/>
        </p:nvSpPr>
        <p:spPr>
          <a:xfrm>
            <a:off x="7031736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3173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31736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Ativos reais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31736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Aluguéis, renda rural, negócio próprio</a:t>
            </a:r>
            <a:endParaRPr lang="en-US" sz="1200" dirty="0"/>
          </a:p>
        </p:txBody>
      </p:sp>
      <p:sp>
        <p:nvSpPr>
          <p:cNvPr id="24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ideal é não depender de uma só fonte. Quanto mais cedo começa a reserva, menor o esforço mensal (juros compostos).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1.3.8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Estresse financeiro: motivos e impacto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48128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motivos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22280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Dívidas, inflação, emprego instável, renda irregular, falta de reserva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97936" y="1280160"/>
            <a:ext cx="2548128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marcador"/>
          <p:cNvSpPr/>
          <p:nvPr/>
        </p:nvSpPr>
        <p:spPr>
          <a:xfrm>
            <a:off x="3480816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8081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80816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80816" y="2468880"/>
            <a:ext cx="22280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Reduzem o estresse com plano, reserva e perfil; aumentam se o cliente não entende o produto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138672" y="1280160"/>
            <a:ext cx="2548128" cy="2423160"/>
          </a:xfrm>
          <a:prstGeom prst="roundRect">
            <a:avLst>
              <a:gd name="adj" fmla="val 264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marcador"/>
          <p:cNvSpPr/>
          <p:nvPr/>
        </p:nvSpPr>
        <p:spPr>
          <a:xfrm>
            <a:off x="6321552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155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21552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Estrato social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21552" y="2468880"/>
            <a:ext cx="22280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renda: sobreviver. Média: manter o padrão. Alta: proteger patrimônio e sucessão</a:t>
            </a:r>
            <a:endParaRPr lang="en-US" sz="1300" dirty="0"/>
          </a:p>
        </p:txBody>
      </p:sp>
      <p:sp>
        <p:nvSpPr>
          <p:cNvPr id="19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têm alto estresse financeiro. O estresse muda de forma com a renda, mas não desaparece.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1.3.9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Apostas online: quem aposta e por quê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3108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 pesquisa mostra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para o atendimento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 apostaram em 2025; 66% homens; idade média de 35 anos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médio: R$ 195,15 por mês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Apostam 27% da Geração Z e 22% dos Millennials; 4% dos Boomers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 jovem e digital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39%: dinheiro rápido; 32%: diversão; 20%: acham que é investimento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 de alerta para o orçamento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 dos apostadores com alto risco de vício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Investigar sem julgar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5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 é regulada (Lei 14.790/2023, Secretaria de Prêmios e Apostas), mas não é investimento: o resultado esperado é negativo.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1.3.10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 x finfluencer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Profissional certificado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conforme o perfil do cliente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Educa: riscos, volatilidade, custos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no melhor interesse e comunica conflitos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pela recomendação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470916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Finfluencer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simples e alcance enorme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Desperta interesse e o primeiro contato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orientação personalizada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contratado: contrato e aviso de publicidade</a:t>
            </a:r>
            <a:endParaRPr lang="en-US" sz="1350" dirty="0"/>
          </a:p>
        </p:txBody>
      </p:sp>
      <p:sp>
        <p:nvSpPr>
          <p:cNvPr id="10" name="marcador"/>
          <p:cNvSpPr/>
          <p:nvPr/>
        </p:nvSpPr>
        <p:spPr>
          <a:xfrm>
            <a:off x="4288536" y="23225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Opinião e conteúdo educativo são diferentes de recomendação personalizada. 34% da população já sofreu golpe ou fraude; entre investidores, 42%.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AUTORAL 1 · ESTRESSE E APOSTAS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ordem certa?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Ubiratan, 34 anos, renda de R$ 5.400, quer aplicar R$ 500 por mês. Na conversa, conta que paga o rotativo do cartão há quatro meses e que aposta cerca de R$ 200 por mês "para juntar dinheiro mais rápido".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conduta mais adequada do profissional?</a:t>
            </a:r>
            <a:endParaRPr lang="en-US" sz="1350" dirty="0"/>
          </a:p>
        </p:txBody>
      </p:sp>
      <p:sp>
        <p:nvSpPr>
          <p:cNvPr id="7" name="alternativa"/>
          <p:cNvSpPr/>
          <p:nvPr/>
        </p:nvSpPr>
        <p:spPr>
          <a:xfrm>
            <a:off x="457200" y="267919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585216" y="283464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67919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um fundo de ações para que o retorno compense o custo do cartão</a:t>
            </a:r>
            <a:endParaRPr lang="en-US" sz="1200" dirty="0"/>
          </a:p>
        </p:txBody>
      </p:sp>
      <p:sp>
        <p:nvSpPr>
          <p:cNvPr id="11" name="alternativa"/>
          <p:cNvSpPr/>
          <p:nvPr/>
        </p:nvSpPr>
        <p:spPr>
          <a:xfrm>
            <a:off x="4636008" y="267919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4764024" y="283464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67919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que apostas são reguladas por lei e seguir com a aplicação de R$ 500</a:t>
            </a:r>
            <a:endParaRPr lang="en-US" sz="1200" dirty="0"/>
          </a:p>
        </p:txBody>
      </p:sp>
      <p:sp>
        <p:nvSpPr>
          <p:cNvPr id="15" name="alternativa"/>
          <p:cNvSpPr/>
          <p:nvPr/>
        </p:nvSpPr>
        <p:spPr>
          <a:xfrm>
            <a:off x="457200" y="342900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marcador"/>
          <p:cNvSpPr/>
          <p:nvPr/>
        </p:nvSpPr>
        <p:spPr>
          <a:xfrm>
            <a:off x="585216" y="35844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42900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a quitação do rotativo e a reserva, mostrando que aposta não é investimento</a:t>
            </a:r>
            <a:endParaRPr lang="en-US" sz="1200" dirty="0"/>
          </a:p>
        </p:txBody>
      </p:sp>
      <p:sp>
        <p:nvSpPr>
          <p:cNvPr id="19" name="alternativa"/>
          <p:cNvSpPr/>
          <p:nvPr/>
        </p:nvSpPr>
        <p:spPr>
          <a:xfrm>
            <a:off x="4636008" y="342900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marcador"/>
          <p:cNvSpPr/>
          <p:nvPr/>
        </p:nvSpPr>
        <p:spPr>
          <a:xfrm>
            <a:off x="4764024" y="35844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342900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 cliente como apostador e retomar o contato quando a renda aumentar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1.5.1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prazo do objetivo manda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48128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Curto prazo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22280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cerca de 2 anos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alta, risco muito baixo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viagem, carro, reserva</a:t>
            </a:r>
            <a:endParaRPr lang="en-US" sz="1300" dirty="0"/>
          </a:p>
        </p:txBody>
      </p:sp>
      <p:sp>
        <p:nvSpPr>
          <p:cNvPr id="9" name="seta"/>
          <p:cNvSpPr/>
          <p:nvPr/>
        </p:nvSpPr>
        <p:spPr>
          <a:xfrm>
            <a:off x="3069336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3297936" y="1280160"/>
            <a:ext cx="2548128" cy="2423160"/>
          </a:xfrm>
          <a:prstGeom prst="roundRect">
            <a:avLst>
              <a:gd name="adj" fmla="val 264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marcador"/>
          <p:cNvSpPr/>
          <p:nvPr/>
        </p:nvSpPr>
        <p:spPr>
          <a:xfrm>
            <a:off x="3480816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8081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80816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Médio prazo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80816" y="2468880"/>
            <a:ext cx="22280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 a 5 anos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entre segurança e retorno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entrada do imóvel, pós</a:t>
            </a:r>
            <a:endParaRPr lang="en-US" sz="1300" dirty="0"/>
          </a:p>
        </p:txBody>
      </p:sp>
      <p:sp>
        <p:nvSpPr>
          <p:cNvPr id="15" name="seta"/>
          <p:cNvSpPr/>
          <p:nvPr/>
        </p:nvSpPr>
        <p:spPr>
          <a:xfrm>
            <a:off x="5910072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6138672" y="1280160"/>
            <a:ext cx="2548128" cy="2423160"/>
          </a:xfrm>
          <a:prstGeom prst="roundRect">
            <a:avLst>
              <a:gd name="adj" fmla="val 264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marcador"/>
          <p:cNvSpPr/>
          <p:nvPr/>
        </p:nvSpPr>
        <p:spPr>
          <a:xfrm>
            <a:off x="6321552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155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21552" y="1883664"/>
            <a:ext cx="2273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Longo prazo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21552" y="2468880"/>
            <a:ext cx="22280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5 anos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mais volatilidade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aposentadoria, sucessão</a:t>
            </a:r>
            <a:endParaRPr lang="en-US" sz="1300" dirty="0"/>
          </a:p>
        </p:txBody>
      </p:sp>
      <p:sp>
        <p:nvSpPr>
          <p:cNvPr id="21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cliente arrojado pode ter um objetivo de curto prazo: para esse dinheiro, o prazo pesa mais que o apetite.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1.5.2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Situação financeira em 4 perguntas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Liquidez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atual x ideal (1.5.2.1)</a:t>
            </a:r>
            <a:endParaRPr lang="en-US" sz="1200" dirty="0"/>
          </a:p>
        </p:txBody>
      </p:sp>
      <p:sp>
        <p:nvSpPr>
          <p:cNvPr id="9" name="seta"/>
          <p:cNvSpPr/>
          <p:nvPr/>
        </p:nvSpPr>
        <p:spPr>
          <a:xfrm>
            <a:off x="2359152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2587752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marcador"/>
          <p:cNvSpPr/>
          <p:nvPr/>
        </p:nvSpPr>
        <p:spPr>
          <a:xfrm>
            <a:off x="2770632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7063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que conhece e experiência (1.5.2.2)</a:t>
            </a:r>
            <a:endParaRPr lang="en-US" sz="1200" dirty="0"/>
          </a:p>
        </p:txBody>
      </p:sp>
      <p:sp>
        <p:nvSpPr>
          <p:cNvPr id="15" name="seta"/>
          <p:cNvSpPr/>
          <p:nvPr/>
        </p:nvSpPr>
        <p:spPr>
          <a:xfrm>
            <a:off x="4489704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718304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marcador"/>
          <p:cNvSpPr/>
          <p:nvPr/>
        </p:nvSpPr>
        <p:spPr>
          <a:xfrm>
            <a:off x="4901184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0118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Origem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vêm os recursos e a renda ativa (1.5.2.3)</a:t>
            </a:r>
            <a:endParaRPr lang="en-US" sz="1200" dirty="0"/>
          </a:p>
        </p:txBody>
      </p:sp>
      <p:sp>
        <p:nvSpPr>
          <p:cNvPr id="21" name="seta"/>
          <p:cNvSpPr/>
          <p:nvPr/>
        </p:nvSpPr>
        <p:spPr>
          <a:xfrm>
            <a:off x="6620256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6848856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marcador"/>
          <p:cNvSpPr/>
          <p:nvPr/>
        </p:nvSpPr>
        <p:spPr>
          <a:xfrm>
            <a:off x="7031736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3173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Compromissos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Dependentes, custos, dívidas, previdência (1.5.2.4)</a:t>
            </a:r>
            <a:endParaRPr lang="en-US" sz="1200" dirty="0"/>
          </a:p>
        </p:txBody>
      </p:sp>
      <p:sp>
        <p:nvSpPr>
          <p:cNvPr id="27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essas quatro respostas não há perfil, e sem perfil não há recomendação.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1.5.2.1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de emergência: atual x ideal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70432"/>
            <a:ext cx="8229600" cy="6400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704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Paula gasta R$ 6.000 por mês, é CLT há 6 anos e tem R$ 12.000 em conta remunerada.</a:t>
            </a:r>
            <a:endParaRPr lang="en-US" sz="1350" dirty="0"/>
          </a:p>
        </p:txBody>
      </p:sp>
      <p:sp>
        <p:nvSpPr>
          <p:cNvPr id="6" name="card"/>
          <p:cNvSpPr/>
          <p:nvPr/>
        </p:nvSpPr>
        <p:spPr>
          <a:xfrm>
            <a:off x="457200" y="1938528"/>
            <a:ext cx="2596896" cy="2404872"/>
          </a:xfrm>
          <a:prstGeom prst="roundRect">
            <a:avLst>
              <a:gd name="adj" fmla="val 266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(6 MESES)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35000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R$ 6.000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688336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R$ 36 mil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474720"/>
            <a:ext cx="2231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 do material: de 6 a 12 meses de despesas</a:t>
            </a:r>
            <a:endParaRPr lang="en-US" sz="1250" dirty="0"/>
          </a:p>
        </p:txBody>
      </p:sp>
      <p:sp>
        <p:nvSpPr>
          <p:cNvPr id="11" name="card"/>
          <p:cNvSpPr/>
          <p:nvPr/>
        </p:nvSpPr>
        <p:spPr>
          <a:xfrm>
            <a:off x="3273552" y="1938528"/>
            <a:ext cx="2596896" cy="2404872"/>
          </a:xfrm>
          <a:prstGeom prst="roundRect">
            <a:avLst>
              <a:gd name="adj" fmla="val 266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74720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5000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R$ 12.000 ÷ R$ 6.000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88336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meses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474720"/>
            <a:ext cx="2231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cobertura de despesas</a:t>
            </a:r>
            <a:endParaRPr lang="en-US" sz="1250" dirty="0"/>
          </a:p>
        </p:txBody>
      </p:sp>
      <p:sp>
        <p:nvSpPr>
          <p:cNvPr id="16" name="card"/>
          <p:cNvSpPr/>
          <p:nvPr/>
        </p:nvSpPr>
        <p:spPr>
          <a:xfrm>
            <a:off x="6089904" y="1938528"/>
            <a:ext cx="2596896" cy="2404872"/>
          </a:xfrm>
          <a:prstGeom prst="roundRect">
            <a:avLst>
              <a:gd name="adj" fmla="val 266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91072" y="207568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35000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R$ 36.000 − R$ 12.000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2688336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R$ 24 mil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3474720"/>
            <a:ext cx="2231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antes de qualquer produto de prazo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1.5.2.2 A 1.5.2.4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Conhecimento, origem e compromissos</a:t>
            </a:r>
            <a:endParaRPr lang="en-US" sz="2400" dirty="0"/>
          </a:p>
        </p:txBody>
      </p:sp>
      <p:sp>
        <p:nvSpPr>
          <p:cNvPr id="4" name="balao"/>
          <p:cNvSpPr/>
          <p:nvPr/>
        </p:nvSpPr>
        <p:spPr>
          <a:xfrm>
            <a:off x="2834640" y="1207008"/>
            <a:ext cx="585216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35808" y="1207008"/>
            <a:ext cx="5449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 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quais investimentos você já teve experiência?</a:t>
            </a:r>
            <a:endParaRPr lang="en-US" sz="1000" dirty="0"/>
          </a:p>
        </p:txBody>
      </p:sp>
      <p:sp>
        <p:nvSpPr>
          <p:cNvPr id="6" name="balao"/>
          <p:cNvSpPr/>
          <p:nvPr/>
        </p:nvSpPr>
        <p:spPr>
          <a:xfrm>
            <a:off x="457200" y="1865376"/>
            <a:ext cx="585216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65376"/>
            <a:ext cx="5449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 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poupança. Mas recebi R$ 400 mil da venda da minha empresa.</a:t>
            </a:r>
            <a:endParaRPr lang="en-US" sz="1000" dirty="0"/>
          </a:p>
        </p:txBody>
      </p:sp>
      <p:sp>
        <p:nvSpPr>
          <p:cNvPr id="8" name="balao"/>
          <p:cNvSpPr/>
          <p:nvPr/>
        </p:nvSpPr>
        <p:spPr>
          <a:xfrm>
            <a:off x="2834640" y="2523744"/>
            <a:ext cx="585216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2523744"/>
            <a:ext cx="5449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 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qual é sua renda e quem depende dela? Há dívidas ou previdência?</a:t>
            </a:r>
            <a:endParaRPr lang="en-US" sz="1000" dirty="0"/>
          </a:p>
        </p:txBody>
      </p:sp>
      <p:sp>
        <p:nvSpPr>
          <p:cNvPr id="10" name="balao"/>
          <p:cNvSpPr/>
          <p:nvPr/>
        </p:nvSpPr>
        <p:spPr>
          <a:xfrm>
            <a:off x="457200" y="3182112"/>
            <a:ext cx="585216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182112"/>
            <a:ext cx="5449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 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consultor, renda variável. Tenho dois filhos e o financiamento da casa.</a:t>
            </a:r>
            <a:endParaRPr lang="en-US" sz="1000" dirty="0"/>
          </a:p>
        </p:txBody>
      </p:sp>
      <p:sp>
        <p:nvSpPr>
          <p:cNvPr id="12" name="definicao"/>
          <p:cNvSpPr/>
          <p:nvPr/>
        </p:nvSpPr>
        <p:spPr>
          <a:xfrm>
            <a:off x="457200" y="3913632"/>
            <a:ext cx="4023360" cy="521208"/>
          </a:xfrm>
          <a:prstGeom prst="roundRect">
            <a:avLst>
              <a:gd name="adj" fmla="val 1403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1363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  </a:t>
            </a:r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(só poupança): limita produtos complexos</a:t>
            </a:r>
            <a:endParaRPr lang="en-US" sz="1300" dirty="0"/>
          </a:p>
        </p:txBody>
      </p:sp>
      <p:sp>
        <p:nvSpPr>
          <p:cNvPr id="14" name="definicao"/>
          <p:cNvSpPr/>
          <p:nvPr/>
        </p:nvSpPr>
        <p:spPr>
          <a:xfrm>
            <a:off x="4663440" y="3913632"/>
            <a:ext cx="4023360" cy="521208"/>
          </a:xfrm>
          <a:prstGeom prst="roundRect">
            <a:avLst>
              <a:gd name="adj" fmla="val 1403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91363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e renda   </a:t>
            </a:r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de empresa (comprovar: PLD); renda irregular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PERGUNTA RÁPIDA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qual dimensão entra cada fala?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0700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621792" y="13441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8249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"Tenho três filhos e pago a escola deles."</a:t>
            </a:r>
            <a:endParaRPr lang="en-US" sz="1350" dirty="0"/>
          </a:p>
        </p:txBody>
      </p:sp>
      <p:sp>
        <p:nvSpPr>
          <p:cNvPr id="8" name="card"/>
          <p:cNvSpPr/>
          <p:nvPr/>
        </p:nvSpPr>
        <p:spPr>
          <a:xfrm>
            <a:off x="4709160" y="120700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4873752" y="13441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73752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8249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"Nunca investi em ações nem em fundos."</a:t>
            </a:r>
            <a:endParaRPr lang="en-US" sz="1350" dirty="0"/>
          </a:p>
        </p:txBody>
      </p:sp>
      <p:sp>
        <p:nvSpPr>
          <p:cNvPr id="12" name="card"/>
          <p:cNvSpPr/>
          <p:nvPr/>
        </p:nvSpPr>
        <p:spPr>
          <a:xfrm>
            <a:off x="457200" y="253288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marcador"/>
          <p:cNvSpPr/>
          <p:nvPr/>
        </p:nvSpPr>
        <p:spPr>
          <a:xfrm>
            <a:off x="621792" y="26700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0083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"Esse dinheiro veio de uma herança."</a:t>
            </a:r>
            <a:endParaRPr lang="en-US" sz="1350" dirty="0"/>
          </a:p>
        </p:txBody>
      </p:sp>
      <p:sp>
        <p:nvSpPr>
          <p:cNvPr id="16" name="card"/>
          <p:cNvSpPr/>
          <p:nvPr/>
        </p:nvSpPr>
        <p:spPr>
          <a:xfrm>
            <a:off x="4709160" y="253288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marcador"/>
          <p:cNvSpPr/>
          <p:nvPr/>
        </p:nvSpPr>
        <p:spPr>
          <a:xfrm>
            <a:off x="4873752" y="26700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0083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"Tenho dois meses de despesas guardados."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Liquidez, conhecimento, origem ou comprometimento da renda?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AUTORAL 2 · COLETA DE INFORMAÇÕES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pesa mais nessa decisão?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Renato, perfil arrojado, quer aplicar R$ 40 mil em ações. Na coleta, conta que esse dinheiro é para trocar de carro daqui a 10 meses. Ele tem reserva de emergência completa.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leitura técnica correta?</a:t>
            </a:r>
            <a:endParaRPr lang="en-US" sz="1350" dirty="0"/>
          </a:p>
        </p:txBody>
      </p:sp>
      <p:sp>
        <p:nvSpPr>
          <p:cNvPr id="7" name="alternativa"/>
          <p:cNvSpPr/>
          <p:nvPr/>
        </p:nvSpPr>
        <p:spPr>
          <a:xfrm>
            <a:off x="457200" y="263347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585216" y="2788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63347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perfil é arrojado, ações são adequadas para qualquer objetivo do cliente</a:t>
            </a:r>
            <a:endParaRPr lang="en-US" sz="1200" dirty="0"/>
          </a:p>
        </p:txBody>
      </p:sp>
      <p:sp>
        <p:nvSpPr>
          <p:cNvPr id="11" name="alternativa"/>
          <p:cNvSpPr/>
          <p:nvPr/>
        </p:nvSpPr>
        <p:spPr>
          <a:xfrm>
            <a:off x="4636008" y="263347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4764024" y="2788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63347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reserva completa autoriza aplicar esse valor em produtos de maior volatilidade</a:t>
            </a:r>
            <a:endParaRPr lang="en-US" sz="1200" dirty="0"/>
          </a:p>
        </p:txBody>
      </p:sp>
      <p:sp>
        <p:nvSpPr>
          <p:cNvPr id="15" name="alternativa"/>
          <p:cNvSpPr/>
          <p:nvPr/>
        </p:nvSpPr>
        <p:spPr>
          <a:xfrm>
            <a:off x="457200" y="338328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marcador"/>
          <p:cNvSpPr/>
          <p:nvPr/>
        </p:nvSpPr>
        <p:spPr>
          <a:xfrm>
            <a:off x="585216" y="353872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3832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deve primeiro refazer o perfil, que ficou arrojado por engano</a:t>
            </a:r>
            <a:endParaRPr lang="en-US" sz="1200" dirty="0"/>
          </a:p>
        </p:txBody>
      </p:sp>
      <p:sp>
        <p:nvSpPr>
          <p:cNvPr id="19" name="alternativa"/>
          <p:cNvSpPr/>
          <p:nvPr/>
        </p:nvSpPr>
        <p:spPr>
          <a:xfrm>
            <a:off x="4636008" y="338328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marcador"/>
          <p:cNvSpPr/>
          <p:nvPr/>
        </p:nvSpPr>
        <p:spPr>
          <a:xfrm>
            <a:off x="4764024" y="353872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33832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prazo curto do objetivo exige liquidez e baixa volatilidade para esse recurso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1.6.1 E 1.6.1.1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ANBIMA: objetivo e abrangência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840480" cy="2377440"/>
          </a:xfrm>
          <a:prstGeom prst="roundRect">
            <a:avLst>
              <a:gd name="adj" fmla="val 2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89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Procedimentos que complementam os princípios do Código de Distribuição.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Valem para TODOS os produtos de investimento e para todos os distribuidores associados ou aderentes.</a:t>
            </a:r>
            <a:endParaRPr lang="en-US" sz="1400" dirty="0"/>
          </a:p>
        </p:txBody>
      </p:sp>
      <p:sp>
        <p:nvSpPr>
          <p:cNvPr id="7" name="fala"/>
          <p:cNvSpPr/>
          <p:nvPr/>
        </p:nvSpPr>
        <p:spPr>
          <a:xfrm>
            <a:off x="4526280" y="1234440"/>
            <a:ext cx="41605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27448" y="1344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COMPLEMENTARES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27448" y="15727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Private  ·  II. Fundos  ·  III. Modelos de transferência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526280" y="2487168"/>
            <a:ext cx="4160520" cy="1124712"/>
          </a:xfrm>
          <a:prstGeom prst="roundRect">
            <a:avLst>
              <a:gd name="adj" fmla="val 5691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27448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HOUVER DIVERGÊNCIA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81635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Anexo Complementar prevalece sobre a Parte Geral. Só o Fórum de Distribuição altera as regras.</a:t>
            </a:r>
            <a:endParaRPr lang="en-US" sz="1300" dirty="0"/>
          </a:p>
        </p:txBody>
      </p:sp>
      <p:sp>
        <p:nvSpPr>
          <p:cNvPr id="13" name="na-prova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79476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numeração dos capítulos muda entre versões do documento. Estude o conteúdo, não o número do capítulo.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1.6.1.2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gerais da atividade de distribuição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4000500" cy="1499616"/>
          </a:xfrm>
          <a:prstGeom prst="roundRect">
            <a:avLst>
              <a:gd name="adj" fmla="val 426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21792" y="13716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344168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gerais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783080"/>
            <a:ext cx="36896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induzir o cliente a pensar que o distribuidor é consultor independente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86300" y="1234440"/>
            <a:ext cx="4000500" cy="1499616"/>
          </a:xfrm>
          <a:prstGeom prst="roundRect">
            <a:avLst>
              <a:gd name="adj" fmla="val 426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marcador"/>
          <p:cNvSpPr/>
          <p:nvPr/>
        </p:nvSpPr>
        <p:spPr>
          <a:xfrm>
            <a:off x="4850892" y="13716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089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89804" y="1344168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Meios eletrônicos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50892" y="1783080"/>
            <a:ext cx="36896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no site com objetivo, público-alvo, carência, emissor, tributação, classificação, riscos e aviso de remuneração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57200" y="2962656"/>
            <a:ext cx="4000500" cy="1499616"/>
          </a:xfrm>
          <a:prstGeom prst="roundRect">
            <a:avLst>
              <a:gd name="adj" fmla="val 426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marcador"/>
          <p:cNvSpPr/>
          <p:nvPr/>
        </p:nvSpPr>
        <p:spPr>
          <a:xfrm>
            <a:off x="621792" y="309981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3072384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Canais digitais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511296"/>
            <a:ext cx="36896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individual, operações criptografadas, uma sessão por usuário, trilha de auditoria por 5 anos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686300" y="2962656"/>
            <a:ext cx="4000500" cy="1499616"/>
          </a:xfrm>
          <a:prstGeom prst="roundRect">
            <a:avLst>
              <a:gd name="adj" fmla="val 4268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marcador"/>
          <p:cNvSpPr/>
          <p:nvPr/>
        </p:nvSpPr>
        <p:spPr>
          <a:xfrm>
            <a:off x="4850892" y="3099816"/>
            <a:ext cx="329184" cy="32918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50892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289804" y="3072384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Remuneração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50892" y="3511296"/>
            <a:ext cx="36896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Divulgar a remuneração recebida pela distribuição: informações qualitativas e quantitativas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1.6.1.3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Conheça seu cliente (KYC)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840480" cy="2377440"/>
          </a:xfrm>
          <a:prstGeom prst="roundRect">
            <a:avLst>
              <a:gd name="adj" fmla="val 2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89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 cliente no início, no cadastro e durante todo o relacionamento.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formal com: aceitação de clientes, visitas, sistemas de controle, atualização cadastral, beneficiário final e veto por risco.</a:t>
            </a:r>
            <a:endParaRPr lang="en-US" sz="1350" dirty="0"/>
          </a:p>
        </p:txBody>
      </p:sp>
      <p:sp>
        <p:nvSpPr>
          <p:cNvPr id="7" name="fala"/>
          <p:cNvSpPr/>
          <p:nvPr/>
        </p:nvSpPr>
        <p:spPr>
          <a:xfrm>
            <a:off x="4526280" y="1234440"/>
            <a:ext cx="41605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27448" y="1344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FALA DO CLIENTE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27448" y="15727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"Já sou cliente há 10 anos. Para que atualizar o cadastro?"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526280" y="2487168"/>
            <a:ext cx="4160520" cy="1124712"/>
          </a:xfrm>
          <a:prstGeom prst="roundRect">
            <a:avLst>
              <a:gd name="adj" fmla="val 5691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27448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AGIR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81635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que o cadastro atualizado é condição para identificar o cliente e registrar todas as aplicações e resgates.</a:t>
            </a:r>
            <a:endParaRPr lang="en-US" sz="1300" dirty="0"/>
          </a:p>
        </p:txBody>
      </p:sp>
      <p:sp>
        <p:nvSpPr>
          <p:cNvPr id="13" name="na-prova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79476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é sobre QUEM é o cliente (identificação e risco do relacionamento). Suitability é sobre O QUE é adequado a ele.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1.6.1.4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Suitability: regra geral e dispensas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geral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 é responsável pelo suitability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recomenda após verificar a adequação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Coleta: objetivo, situação financeira e conhecimento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formal com critérios e controles</a:t>
            </a:r>
            <a:endParaRPr lang="en-US" sz="1250" dirty="0"/>
          </a:p>
        </p:txBody>
      </p:sp>
      <p:sp>
        <p:nvSpPr>
          <p:cNvPr id="7" name="card"/>
          <p:cNvSpPr/>
          <p:nvPr/>
        </p:nvSpPr>
        <p:spPr>
          <a:xfrm>
            <a:off x="470916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Dispensados (ANBIMA)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Fundos de renda fixa classificados como simples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LFT (Tesouro Selic)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CDB/RDB com emissor no nível do risco Brasil, liquidez diária ou até 6 meses e pós-fixado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automáticos: suitability simplificado</a:t>
            </a:r>
            <a:endParaRPr lang="en-US" sz="1250" dirty="0"/>
          </a:p>
        </p:txBody>
      </p:sp>
      <p:sp>
        <p:nvSpPr>
          <p:cNvPr id="10" name="marcador"/>
          <p:cNvSpPr/>
          <p:nvPr/>
        </p:nvSpPr>
        <p:spPr>
          <a:xfrm>
            <a:off x="4288536" y="23225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CDB ser dispensado, os três critérios valem ao mesmo tempo (cumulativos).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1.6.1.4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fora do perfil: o que fazer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Vedado recomendar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inadequado, ausente ou desatualizado</a:t>
            </a:r>
            <a:endParaRPr lang="en-US" sz="1200" dirty="0"/>
          </a:p>
        </p:txBody>
      </p:sp>
      <p:sp>
        <p:nvSpPr>
          <p:cNvPr id="9" name="seta"/>
          <p:cNvSpPr/>
          <p:nvPr/>
        </p:nvSpPr>
        <p:spPr>
          <a:xfrm>
            <a:off x="2359152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2587752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marcador"/>
          <p:cNvSpPr/>
          <p:nvPr/>
        </p:nvSpPr>
        <p:spPr>
          <a:xfrm>
            <a:off x="2770632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7063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insiste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1ª aplicação naquela categoria de ativo</a:t>
            </a:r>
            <a:endParaRPr lang="en-US" sz="1200" dirty="0"/>
          </a:p>
        </p:txBody>
      </p:sp>
      <p:sp>
        <p:nvSpPr>
          <p:cNvPr id="15" name="seta"/>
          <p:cNvSpPr/>
          <p:nvPr/>
        </p:nvSpPr>
        <p:spPr>
          <a:xfrm>
            <a:off x="4489704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718304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marcador"/>
          <p:cNvSpPr/>
          <p:nvPr/>
        </p:nvSpPr>
        <p:spPr>
          <a:xfrm>
            <a:off x="4901184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0118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Alertar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 as causas da divergência</a:t>
            </a:r>
            <a:endParaRPr lang="en-US" sz="1200" dirty="0"/>
          </a:p>
        </p:txBody>
      </p:sp>
      <p:sp>
        <p:nvSpPr>
          <p:cNvPr id="21" name="seta"/>
          <p:cNvSpPr/>
          <p:nvPr/>
        </p:nvSpPr>
        <p:spPr>
          <a:xfrm>
            <a:off x="6620256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6848856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marcador"/>
          <p:cNvSpPr/>
          <p:nvPr/>
        </p:nvSpPr>
        <p:spPr>
          <a:xfrm>
            <a:off x="7031736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3173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Declaração expressa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categoria de ativo; atualizar em até 5 anos</a:t>
            </a:r>
            <a:endParaRPr lang="en-US" sz="1200" dirty="0"/>
          </a:p>
        </p:txBody>
      </p:sp>
      <p:sp>
        <p:nvSpPr>
          <p:cNvPr id="27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recusar a ordem nem executar calado: é alerta com a causa, declaração expressa e registro.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1.6.1.5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perfis, uma escala de risco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38912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o cliente se declara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Pontuação máxima do produto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1 (conservador)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tolerância a risco, baixo conhecimento, prioriza liquidez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2 (moderado)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tolerância; preserva capital, aceita parte em mais 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3 (arrojado)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 risco e aceita perdas em busca de retorno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0,5 (menor risco) a 5 (maior). Por portfólio, vale a média ponderada da carteira dentro do limite do perfil.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1.6.1.5.1 A 1.6.1.5.3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produto é classificado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mínimos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do produto e dos ativos subjacentes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dos emissores e prestadores de serviço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Existência de garantias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de carência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70916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Categorias mínimas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· Derivativos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fixa crédito privado · Títulos públicos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FII · Classes de FIP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 cambial · FIF multimercado</a:t>
            </a:r>
            <a:endParaRPr lang="en-US" sz="1300" dirty="0"/>
          </a:p>
        </p:txBody>
      </p:sp>
      <p:sp>
        <p:nvSpPr>
          <p:cNvPr id="10" name="marcador"/>
          <p:cNvSpPr/>
          <p:nvPr/>
        </p:nvSpPr>
        <p:spPr>
          <a:xfrm>
            <a:off x="4288536" y="23225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dos produtos é revista em prazo não superior ao da regulação: até 24 meses (CVM 30).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AUTORAL 3 · CLASSIFICAÇÃO DE RISCO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carteira cabe no perfil?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8229600" cy="868680"/>
          </a:xfrm>
          <a:prstGeom prst="roundRect">
            <a:avLst>
              <a:gd name="adj" fmla="val 736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distribuidor usa a adequação por portfólio. Cliente de Perfil 2 (moderado) tem: 50% em um produto de pontuação 1,0; 30% em um de 3,5; e 20% em um de 4,0.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conclusão correta?</a:t>
            </a:r>
            <a:endParaRPr lang="en-US" sz="1350" dirty="0"/>
          </a:p>
        </p:txBody>
      </p:sp>
      <p:sp>
        <p:nvSpPr>
          <p:cNvPr id="7" name="alternativa"/>
          <p:cNvSpPr/>
          <p:nvPr/>
        </p:nvSpPr>
        <p:spPr>
          <a:xfrm>
            <a:off x="457200" y="258775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585216" y="274320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58775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Inadequada, porque há produtos com pontuação acima de 3</a:t>
            </a:r>
            <a:endParaRPr lang="en-US" sz="1200" dirty="0"/>
          </a:p>
        </p:txBody>
      </p:sp>
      <p:sp>
        <p:nvSpPr>
          <p:cNvPr id="11" name="alternativa"/>
          <p:cNvSpPr/>
          <p:nvPr/>
        </p:nvSpPr>
        <p:spPr>
          <a:xfrm>
            <a:off x="4636008" y="258775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4764024" y="274320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58775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Adequada: a média ponderada é 2,35, abaixo do limite de 3</a:t>
            </a:r>
            <a:endParaRPr lang="en-US" sz="1200" dirty="0"/>
          </a:p>
        </p:txBody>
      </p:sp>
      <p:sp>
        <p:nvSpPr>
          <p:cNvPr id="15" name="alternativa"/>
          <p:cNvSpPr/>
          <p:nvPr/>
        </p:nvSpPr>
        <p:spPr>
          <a:xfrm>
            <a:off x="457200" y="333756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marcador"/>
          <p:cNvSpPr/>
          <p:nvPr/>
        </p:nvSpPr>
        <p:spPr>
          <a:xfrm>
            <a:off x="585216" y="349300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33756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Adequada: a média simples é 2,83, abaixo do limite de 3</a:t>
            </a:r>
            <a:endParaRPr lang="en-US" sz="1200" dirty="0"/>
          </a:p>
        </p:txBody>
      </p:sp>
      <p:sp>
        <p:nvSpPr>
          <p:cNvPr id="19" name="alternativa"/>
          <p:cNvSpPr/>
          <p:nvPr/>
        </p:nvSpPr>
        <p:spPr>
          <a:xfrm>
            <a:off x="4636008" y="333756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marcador"/>
          <p:cNvSpPr/>
          <p:nvPr/>
        </p:nvSpPr>
        <p:spPr>
          <a:xfrm>
            <a:off x="4764024" y="349300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333756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Inadequada: a média ponderada é 3,5, acima do limite de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1.6.1.5.4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Transferência de produtos de investimento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Investidor formaliza no distribuidor CEDENTE (de preferência, por meio eletrônico)</a:t>
            </a:r>
            <a:endParaRPr lang="en-US" sz="1200" dirty="0"/>
          </a:p>
        </p:txBody>
      </p:sp>
      <p:sp>
        <p:nvSpPr>
          <p:cNvPr id="9" name="seta"/>
          <p:cNvSpPr/>
          <p:nvPr/>
        </p:nvSpPr>
        <p:spPr>
          <a:xfrm>
            <a:off x="2359152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2587752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marcador"/>
          <p:cNvSpPr/>
          <p:nvPr/>
        </p:nvSpPr>
        <p:spPr>
          <a:xfrm>
            <a:off x="2770632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7063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Titularidade correta e bloqueios judiciais, de crédito ou de garantia</a:t>
            </a:r>
            <a:endParaRPr lang="en-US" sz="1200" dirty="0"/>
          </a:p>
        </p:txBody>
      </p:sp>
      <p:sp>
        <p:nvSpPr>
          <p:cNvPr id="15" name="seta"/>
          <p:cNvSpPr/>
          <p:nvPr/>
        </p:nvSpPr>
        <p:spPr>
          <a:xfrm>
            <a:off x="4489704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718304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marcador"/>
          <p:cNvSpPr/>
          <p:nvPr/>
        </p:nvSpPr>
        <p:spPr>
          <a:xfrm>
            <a:off x="4901184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0118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o custodiante de origem e justifica eventual impossibilidade</a:t>
            </a:r>
            <a:endParaRPr lang="en-US" sz="1200" dirty="0"/>
          </a:p>
        </p:txBody>
      </p:sp>
      <p:sp>
        <p:nvSpPr>
          <p:cNvPr id="21" name="seta"/>
          <p:cNvSpPr/>
          <p:nvPr/>
        </p:nvSpPr>
        <p:spPr>
          <a:xfrm>
            <a:off x="6620256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6848856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marcador"/>
          <p:cNvSpPr/>
          <p:nvPr/>
        </p:nvSpPr>
        <p:spPr>
          <a:xfrm>
            <a:off x="7031736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3173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Transferência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vão ao CESSIONÁRIO, sem venda e com a mesma titularidade</a:t>
            </a:r>
            <a:endParaRPr lang="en-US" sz="1200" dirty="0"/>
          </a:p>
        </p:txBody>
      </p:sp>
      <p:sp>
        <p:nvSpPr>
          <p:cNvPr id="27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só em casos previstos: bloqueio, desistência, cadastro inconsistente, posição não reconhecida, resgate pendente, sem contrato com o administrador.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1.6.2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CVM 30: o dever de verificar a adequação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840480" cy="2377440"/>
          </a:xfrm>
          <a:prstGeom prst="roundRect">
            <a:avLst>
              <a:gd name="adj" fmla="val 2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389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O PRODUTO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É adequado aos OBJETIVOS do cliente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É compatível com a SITUAÇÃO FINANCEIRA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 compreendido: o cliente tem o CONHECIMENTO necessário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para distribuidores e consultores, em qualquer canal.</a:t>
            </a:r>
            <a:endParaRPr lang="en-US" sz="1350" dirty="0"/>
          </a:p>
        </p:txBody>
      </p:sp>
      <p:sp>
        <p:nvSpPr>
          <p:cNvPr id="7" name="fala"/>
          <p:cNvSpPr/>
          <p:nvPr/>
        </p:nvSpPr>
        <p:spPr>
          <a:xfrm>
            <a:off x="4526280" y="1234440"/>
            <a:ext cx="41605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27448" y="1344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QUE CONFUNDEM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27448" y="15727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cliente: conforme o cadastro, no máximo 5 anos.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dos produtos: até 24 meses.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526280" y="2487168"/>
            <a:ext cx="4160520" cy="1124712"/>
          </a:xfrm>
          <a:prstGeom prst="roundRect">
            <a:avLst>
              <a:gd name="adj" fmla="val 5691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27448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81635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Investidor qualificado ou profissional (com exceções), carteira administrada, recomendação de consultor CVM.</a:t>
            </a:r>
            <a:endParaRPr lang="en-US" sz="1300" dirty="0"/>
          </a:p>
        </p:txBody>
      </p:sp>
      <p:sp>
        <p:nvSpPr>
          <p:cNvPr id="13" name="na-prova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79476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perfil, perfil desatualizado ou inadequado: alerta com as causas + declaração expressa antes da 1ª operação na categoria.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SÍNTESE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regula o quê no relacionamento</a:t>
            </a:r>
            <a:endParaRPr lang="en-US" sz="2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2651760"/>
                <a:gridCol w="2286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edita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quem se aplica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ANBIMA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ANBIMA (autorregulação)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Distribuidores associados ou aderentes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Distribuição e suitability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Res. CVM 30/2021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Distribuidores e consultores de valores mobiliários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Adequação ao perfil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Res. CMN 4.949/2021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Instituições financeiras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Princípios e procedimentos no relacionamento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Res. BCB 155/2021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Central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Consórcios, instituições de pagamento e outras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Mesmos princípios, outro público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Res. Conjunta 8/2023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CMN e BCB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IFs e demais autorizadas pelo BCB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 financeira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2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1.6.3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 CMN 4.949/2021 no dia a dia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marcador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Ética, responsabilidade, transparência e diligência; tratamento justo e equitativo</a:t>
            </a:r>
            <a:endParaRPr lang="en-US" sz="1200" dirty="0"/>
          </a:p>
        </p:txBody>
      </p:sp>
      <p:sp>
        <p:nvSpPr>
          <p:cNvPr id="9" name="seta"/>
          <p:cNvSpPr/>
          <p:nvPr/>
        </p:nvSpPr>
        <p:spPr>
          <a:xfrm>
            <a:off x="2359152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2587752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marcador"/>
          <p:cNvSpPr/>
          <p:nvPr/>
        </p:nvSpPr>
        <p:spPr>
          <a:xfrm>
            <a:off x="2770632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7063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Contratação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às necessidades, informação clara sobre custos e riscos, cancelar sem barreiras</a:t>
            </a:r>
            <a:endParaRPr lang="en-US" sz="1200" dirty="0"/>
          </a:p>
        </p:txBody>
      </p:sp>
      <p:sp>
        <p:nvSpPr>
          <p:cNvPr id="15" name="seta"/>
          <p:cNvSpPr/>
          <p:nvPr/>
        </p:nvSpPr>
        <p:spPr>
          <a:xfrm>
            <a:off x="4489704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718304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marcador"/>
          <p:cNvSpPr/>
          <p:nvPr/>
        </p:nvSpPr>
        <p:spPr>
          <a:xfrm>
            <a:off x="4901184" y="1444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0118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institucional de relacionamento aprovada pela alta administração</a:t>
            </a:r>
            <a:endParaRPr lang="en-US" sz="1200" dirty="0"/>
          </a:p>
        </p:txBody>
      </p:sp>
      <p:sp>
        <p:nvSpPr>
          <p:cNvPr id="21" name="seta"/>
          <p:cNvSpPr/>
          <p:nvPr/>
        </p:nvSpPr>
        <p:spPr>
          <a:xfrm>
            <a:off x="6620256" y="2382012"/>
            <a:ext cx="164592" cy="219456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6848856" y="1280160"/>
            <a:ext cx="1837944" cy="2423160"/>
          </a:xfrm>
          <a:prstGeom prst="roundRect">
            <a:avLst>
              <a:gd name="adj" fmla="val 348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marcador"/>
          <p:cNvSpPr/>
          <p:nvPr/>
        </p:nvSpPr>
        <p:spPr>
          <a:xfrm>
            <a:off x="7031736" y="144475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3173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1883664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2468880"/>
            <a:ext cx="15179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e incentivos alinhados à política de relacionamento</a:t>
            </a:r>
            <a:endParaRPr lang="en-US" sz="1200" dirty="0"/>
          </a:p>
        </p:txBody>
      </p:sp>
      <p:sp>
        <p:nvSpPr>
          <p:cNvPr id="27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comercial não pode empurrar produto inadequado: a norma exige incentivos coerentes com o interesse do cliente.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1.6.4 E 1.6.5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BCB 155 e educação financeira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 BCB 155/2021 (1.6.4)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princípios da CMN 4.949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consórcios, instituições de pagamento e outras autorizadas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relacionamento, controles e responsável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sem barreiras para cancelar e transferir</a:t>
            </a:r>
            <a:endParaRPr lang="en-US" sz="1250" dirty="0"/>
          </a:p>
        </p:txBody>
      </p:sp>
      <p:sp>
        <p:nvSpPr>
          <p:cNvPr id="7" name="card"/>
          <p:cNvSpPr/>
          <p:nvPr/>
        </p:nvSpPr>
        <p:spPr>
          <a:xfrm>
            <a:off x="4709160" y="1234440"/>
            <a:ext cx="3977640" cy="25603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89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 Conjunta 8/2023 (1.6.5)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financeira para clientes pessoa física e empresário individual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Orçamento, poupança e prevenção ao superendividamento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o cliente, amplo alcance, personalização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com governança e indicadores</a:t>
            </a:r>
            <a:endParaRPr lang="en-US" sz="1250" dirty="0"/>
          </a:p>
        </p:txBody>
      </p:sp>
      <p:sp>
        <p:nvSpPr>
          <p:cNvPr id="10" name="marcador"/>
          <p:cNvSpPr/>
          <p:nvPr/>
        </p:nvSpPr>
        <p:spPr>
          <a:xfrm>
            <a:off x="4288536" y="23225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8853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na-prov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3192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Educar o cliente passou a ser dever institucional, não ação de marketing.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AUTORAL 4 · RELACIONAMENTO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x política de relacionamento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lança campanha que paga bônus aos gerentes apenas pelo volume captado em um fundo de maior risco, sem distinção de perfil dos clientes. A área de controles aponta conflito com a Res. CMN 4.949/2021.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providência atende à norma?</a:t>
            </a:r>
            <a:endParaRPr lang="en-US" sz="1350" dirty="0"/>
          </a:p>
        </p:txBody>
      </p:sp>
      <p:sp>
        <p:nvSpPr>
          <p:cNvPr id="7" name="alternativa"/>
          <p:cNvSpPr/>
          <p:nvPr/>
        </p:nvSpPr>
        <p:spPr>
          <a:xfrm>
            <a:off x="457200" y="263347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585216" y="2788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63347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Alinhar metas e incentivos à política institucional de relacionamento</a:t>
            </a:r>
            <a:endParaRPr lang="en-US" sz="1200" dirty="0"/>
          </a:p>
        </p:txBody>
      </p:sp>
      <p:sp>
        <p:nvSpPr>
          <p:cNvPr id="11" name="alternativa"/>
          <p:cNvSpPr/>
          <p:nvPr/>
        </p:nvSpPr>
        <p:spPr>
          <a:xfrm>
            <a:off x="4636008" y="263347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4764024" y="2788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63347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campanha, pois metas comerciais não são tratadas pela norma</a:t>
            </a:r>
            <a:endParaRPr lang="en-US" sz="1200" dirty="0"/>
          </a:p>
        </p:txBody>
      </p:sp>
      <p:sp>
        <p:nvSpPr>
          <p:cNvPr id="15" name="alternativa"/>
          <p:cNvSpPr/>
          <p:nvPr/>
        </p:nvSpPr>
        <p:spPr>
          <a:xfrm>
            <a:off x="457200" y="338328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marcador"/>
          <p:cNvSpPr/>
          <p:nvPr/>
        </p:nvSpPr>
        <p:spPr>
          <a:xfrm>
            <a:off x="585216" y="353872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3832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 a responsabilidade pela adequação para o próprio cliente</a:t>
            </a:r>
            <a:endParaRPr lang="en-US" sz="1200" dirty="0"/>
          </a:p>
        </p:txBody>
      </p:sp>
      <p:sp>
        <p:nvSpPr>
          <p:cNvPr id="19" name="alternativa"/>
          <p:cNvSpPr/>
          <p:nvPr/>
        </p:nvSpPr>
        <p:spPr>
          <a:xfrm>
            <a:off x="4636008" y="338328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marcador"/>
          <p:cNvSpPr/>
          <p:nvPr/>
        </p:nvSpPr>
        <p:spPr>
          <a:xfrm>
            <a:off x="4764024" y="353872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33832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Suspender a distribuição do fundo para todos os perfis de clientes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ideias para levar da aula</a:t>
            </a:r>
            <a:endParaRPr lang="en-US" sz="2400" dirty="0"/>
          </a:p>
        </p:txBody>
      </p:sp>
      <p:sp>
        <p:nvSpPr>
          <p:cNvPr id="4" name="marcador"/>
          <p:cNvSpPr/>
          <p:nvPr/>
        </p:nvSpPr>
        <p:spPr>
          <a:xfrm>
            <a:off x="457200" y="127101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71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0700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retrato do país (Raio X) diz onde procurar; a entrevista com o cliente diz o que fazer.</a:t>
            </a:r>
            <a:endParaRPr lang="en-US" sz="1450" dirty="0"/>
          </a:p>
        </p:txBody>
      </p:sp>
      <p:sp>
        <p:nvSpPr>
          <p:cNvPr id="7" name="marcador"/>
          <p:cNvSpPr/>
          <p:nvPr/>
        </p:nvSpPr>
        <p:spPr>
          <a:xfrm>
            <a:off x="457200" y="195681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9280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parado encolhe: o poder de compra se calcula dividindo pela inflação.</a:t>
            </a:r>
            <a:endParaRPr lang="en-US" sz="1450" dirty="0"/>
          </a:p>
        </p:txBody>
      </p:sp>
      <p:sp>
        <p:nvSpPr>
          <p:cNvPr id="10" name="marcador"/>
          <p:cNvSpPr/>
          <p:nvPr/>
        </p:nvSpPr>
        <p:spPr>
          <a:xfrm>
            <a:off x="457200" y="264261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57860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define prazo; prazo define liquidez e risco. Coleta: objetivo, situação financeira, conhecimento.</a:t>
            </a:r>
            <a:endParaRPr lang="en-US" sz="1450" dirty="0"/>
          </a:p>
        </p:txBody>
      </p:sp>
      <p:sp>
        <p:nvSpPr>
          <p:cNvPr id="13" name="marcador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6440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perfil: alerta com a causa + declaração por categoria. Perfil até 5 anos; produtos até 24 meses.</a:t>
            </a:r>
            <a:endParaRPr lang="en-US" sz="1450" dirty="0"/>
          </a:p>
        </p:txBody>
      </p:sp>
      <p:sp>
        <p:nvSpPr>
          <p:cNvPr id="16" name="marcador"/>
          <p:cNvSpPr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95020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ANBIMA, CVM 30, CMN 4.949, BCB 155 e Res. Conjunta 8: interesse do cliente acima da meta.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norma ou regra resolve?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20700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621792" y="13441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8249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 de pagamento precisa de política de relacionamento.</a:t>
            </a:r>
            <a:endParaRPr lang="en-US" sz="1350" dirty="0"/>
          </a:p>
        </p:txBody>
      </p:sp>
      <p:sp>
        <p:nvSpPr>
          <p:cNvPr id="8" name="card"/>
          <p:cNvSpPr/>
          <p:nvPr/>
        </p:nvSpPr>
        <p:spPr>
          <a:xfrm>
            <a:off x="4709160" y="120700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4873752" y="13441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73752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8249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insiste em produto acima do perfil.</a:t>
            </a:r>
            <a:endParaRPr lang="en-US" sz="1350" dirty="0"/>
          </a:p>
        </p:txBody>
      </p:sp>
      <p:sp>
        <p:nvSpPr>
          <p:cNvPr id="12" name="card"/>
          <p:cNvSpPr/>
          <p:nvPr/>
        </p:nvSpPr>
        <p:spPr>
          <a:xfrm>
            <a:off x="457200" y="253288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marcador"/>
          <p:cNvSpPr/>
          <p:nvPr/>
        </p:nvSpPr>
        <p:spPr>
          <a:xfrm>
            <a:off x="621792" y="26700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0083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cria programa de educação financeira para clientes.</a:t>
            </a:r>
            <a:endParaRPr lang="en-US" sz="1350" dirty="0"/>
          </a:p>
        </p:txBody>
      </p:sp>
      <p:sp>
        <p:nvSpPr>
          <p:cNvPr id="16" name="card"/>
          <p:cNvSpPr/>
          <p:nvPr/>
        </p:nvSpPr>
        <p:spPr>
          <a:xfrm>
            <a:off x="4709160" y="2532888"/>
            <a:ext cx="3977640" cy="1170432"/>
          </a:xfrm>
          <a:prstGeom prst="roundRect">
            <a:avLst>
              <a:gd name="adj" fmla="val 54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marcador"/>
          <p:cNvSpPr/>
          <p:nvPr/>
        </p:nvSpPr>
        <p:spPr>
          <a:xfrm>
            <a:off x="4873752" y="26700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0083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 pós-fixado, liquidez diária, emissor de primeira linha.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Trinta segundos para cada. Responda antes de virar o slide.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AUTORAL 5 · INTEGRADORA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457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Coleta, perfil e conduta no mesmo caso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Helena, 52 anos, tem perfil feito há 6 anos e o cadastro desatualizado. Herdou R$ 800 mil e pede para aplicar metade em um produto estruturado complexo que viu num vídeo. Diz que nunca investiu além da poupança.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conduta mais adequada?</a:t>
            </a:r>
            <a:endParaRPr lang="en-US" sz="1350" dirty="0"/>
          </a:p>
        </p:txBody>
      </p:sp>
      <p:sp>
        <p:nvSpPr>
          <p:cNvPr id="7" name="alternativa"/>
          <p:cNvSpPr/>
          <p:nvPr/>
        </p:nvSpPr>
        <p:spPr>
          <a:xfrm>
            <a:off x="457200" y="272491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585216" y="288036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72491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Aplicar, pois a herança a torna investidora qualificada automaticamente</a:t>
            </a:r>
            <a:endParaRPr lang="en-US" sz="1150" dirty="0"/>
          </a:p>
        </p:txBody>
      </p:sp>
      <p:sp>
        <p:nvSpPr>
          <p:cNvPr id="11" name="alternativa"/>
          <p:cNvSpPr/>
          <p:nvPr/>
        </p:nvSpPr>
        <p:spPr>
          <a:xfrm>
            <a:off x="4636008" y="2724912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4764024" y="288036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72491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a aplicação e encerrar o atendimento até nova solicitação</a:t>
            </a:r>
            <a:endParaRPr lang="en-US" sz="1150" dirty="0"/>
          </a:p>
        </p:txBody>
      </p:sp>
      <p:sp>
        <p:nvSpPr>
          <p:cNvPr id="15" name="alternativa"/>
          <p:cNvSpPr/>
          <p:nvPr/>
        </p:nvSpPr>
        <p:spPr>
          <a:xfrm>
            <a:off x="457200" y="347472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marcador"/>
          <p:cNvSpPr/>
          <p:nvPr/>
        </p:nvSpPr>
        <p:spPr>
          <a:xfrm>
            <a:off x="585216" y="363016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47472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cadastro e perfil (objetivos, situação e conhecimento, inclusive a origem) antes de recomendar</a:t>
            </a:r>
            <a:endParaRPr lang="en-US" sz="1150" dirty="0"/>
          </a:p>
        </p:txBody>
      </p:sp>
      <p:sp>
        <p:nvSpPr>
          <p:cNvPr id="19" name="alternativa"/>
          <p:cNvSpPr/>
          <p:nvPr/>
        </p:nvSpPr>
        <p:spPr>
          <a:xfrm>
            <a:off x="4636008" y="3474720"/>
            <a:ext cx="405079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marcador"/>
          <p:cNvSpPr/>
          <p:nvPr/>
        </p:nvSpPr>
        <p:spPr>
          <a:xfrm>
            <a:off x="4764024" y="363016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347472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sem alerta, pois o pedido partiu da própria cliente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 PRÓXIMA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foco é aprender.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aprovação é consequência.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fixar: resolva a lista de exercícios da X8 sobre características do investidor, coleta de informações e regras de distribuição.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8 Educacao">
  <a:themeElements>
    <a:clrScheme name="X8 Educacao">
      <a:dk1>
        <a:srgbClr val="0A1628"/>
      </a:dk1>
      <a:lt1>
        <a:srgbClr val="FFFFFF"/>
      </a:lt1>
      <a:dk2>
        <a:srgbClr val="102040"/>
      </a:dk2>
      <a:lt2>
        <a:srgbClr val="E8EDF5"/>
      </a:lt2>
      <a:accent1>
        <a:srgbClr val="3B82F6"/>
      </a:accent1>
      <a:accent2>
        <a:srgbClr val="C9A45C"/>
      </a:accent2>
      <a:accent3>
        <a:srgbClr val="CADCFC"/>
      </a:accent3>
      <a:accent4>
        <a:srgbClr val="94A3B8"/>
      </a:accent4>
      <a:accent5>
        <a:srgbClr val="2563EB"/>
      </a:accent5>
      <a:accent6>
        <a:srgbClr val="1C3260"/>
      </a:accent6>
      <a:hlink>
        <a:srgbClr val="3B82F6"/>
      </a:hlink>
      <a:folHlink>
        <a:srgbClr val="CADCFC"/>
      </a:folHlink>
    </a:clrScheme>
    <a:fontScheme name="X8 Educaca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C-PRO R · Aula 2</dc:title>
  <dc:subject>PptxGenJS Presentation</dc:subject>
  <dc:creator>X8 Educação</dc:creator>
  <cp:lastModifiedBy>X8 Educação</cp:lastModifiedBy>
  <cp:revision>1</cp:revision>
  <dcterms:created xsi:type="dcterms:W3CDTF">2026-10-22T13:51:47Z</dcterms:created>
  <dcterms:modified xsi:type="dcterms:W3CDTF">2026-10-22T13:51:47Z</dcterms:modified>
</cp:coreProperties>
</file>