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b94078e-71c0-bd5c-b8a7-f7ef781b103d}">
          <p14:sldIdLst>
            <p14:sldId id="256"/>
            <p14:sldId id="257"/>
            <p14:sldId id="258"/>
          </p14:sldIdLst>
        </p14:section>
        <p14:section name="Bloco 1 · 2.1.1 a 2.1.4" id="{101dcdf3-145b-30d2-a1aa-bffbe0f2422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loco 2 · 2.1.5 a 2.1.7" id="{1f77913a-0050-af3c-30cc-2851bc9d91e3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loco 3 · 2.2.1 a 2.2.4" id="{0f9f2e74-0794-e356-44cf-54913fb124da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visão" id="{77129af4-0874-9c9f-5bf5-283cea3536f8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
RECURSO VISUAL: Capa com logo X8 e frase-assinatura.
CONDUÇÃO: Boas-vindas. Aula de 60 minutos, começo do Módulo 2 (Análise de informações do cliente). Hoje a pergunta não é 'onde investir', e sim 'quanto o cliente consegue guardar, quanto tempo ele aguenta sem renda e quão rápido o dinheiro dele vira dinheiro de verdade'. Avise que haverá uma pergunta rápida e 4 questões autorais.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
RECURSO VISUAL: Fluxo de 3 cartões numerados, um por bloco; o terceiro em destaque.
EXPLICAÇÃO: Segundo o programa detalhado vigente (v1.2, vigência a partir de 01/01/2026), o Módulo 2 representa 20% do programa. O programa não informa peso por subitem, então não diga que um tema 'cai mais' que outro.
CONDUÇÃO: Mostre a lógica: primeiro o fluxo (quanto entra e quanto sobra), depois a foto (o que o cliente tem e deve), por fim a velocidade (o que vira dinheiro rápido). Os três se cruzam no caso da Marina.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Faixa com a fala da cliente e três cartões de números; o terceiro com interrogação.
EXPLICAÇÃO: Dados hipotéticos e didáticos. Marina volta em todos os blocos: índice de poupança, reserva, balanço, cobertura, liquidez corrente e seca.
CONDUÇÃO: Peça a resposta pelo chat: quanto sobra? (R$ 2.400.) Depois pergunte: 'Ela pode colocar tudo num fundo imobiliário?'. Deixe a pergunta aberta: a aula inteira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Cartão de definição, balão com a fala do cliente e cartão de ação em destaque.
EXPLICAÇÃO: Capacidade de poupança é a parte da renda que fica depois das despesas essenciais, dos compromissos financeiros e do consumo. Costuma ser lida em percentual da renda. Uma estratégia de investimentos sólida começa pela construção de uma poupança viável.
EXEMPLO: Marina: R$ 12.000 − R$ 9.600 = R$ 2.400 por mês. Ainda não é o índice (que vem no Bloco 2), mas já mostra que há espaço para poupar.
NA PROVA: Alternativa que recomenda produto antes de saber quanto o cliente consegue poupar tende a ser a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Tabela de três fases do ciclo de vida, com faixa de prova.
EXPLICAÇÃO: A renda precisa ser lida junto com a fase de vida e o padrão de consumo. Capacidade de renda é o potencial de gerar fluxo positivo: depende de profissão, estabilidade, crescimento esperado e fontes adicionais (aluguéis, dividendos).
EXEMPLO: Marina está na meia-idade: renda estável e em bom nível, mas com um filho. A margem dela depende mais do padrão de vida do que do salário.
NA PROVA: Pegadinha clássica: 'quem ganha mais sempre poupa mais'. Errado: o padrão de vida pode consumir toda a renda.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Três cartões em sequência; a automatização em destaque.
EXPLICAÇÃO: São as três estratégias da apostila para viabilizar a poupança. A automatização transforma a poupança em despesa obrigatória: ela acontece antes de o dinheiro ser gasto.
EXEMPLO: Marina programa R$ 2.400 para o dia do salário. O que sobra no mês é o que ela pode gastar, e não o contrário.
CONDUÇÃO: Pergunte: 'Quem aqui tem aplicação automática no dia do salário?'. Use as respostas para mostrar que poupar é processo, e não força de vontade.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Quatro cartões em sequência com setas; o último em destaque.
EXPLICAÇÃO: Planejar é transformar intenção em processo. Os quatro passos são da apostila. Quando a poupança é tratada como despesa obrigatória, e não como sobra eventual, a chance de sucesso aumenta.
NA PROVA: Questões costumam trazer a alternativa 'poupar o que sobrar no fim do mês'. É o oposto do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Três cartões de números: poupança, investimento e a diferença em destaque.
EXPLICAÇÃO: A poupança é tema macroeconômico também. Países com maior poupança interna têm mais recursos para investimento produtivo, menor dependência de capital externo e mais estabilidade. Em 2025, a taxa de poupança do Brasil foi de 14,4% do PIB, e a de investimento, de 16,8% (IBGE, Contas Nacionais Trimestrais).
EXEMPLO: Leitura simples: de cada R$ 100 produzidos, o país guardou R$ 14,40 e investiu cerca de R$ 16,80. A diferença veio de fora.
NA PROVA: A prova cobra o conceito, e não o número. Guarde a lógica: pouca poupança interna significa crédito mais caro e juros mais altos.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Grade 2 × 2 com os quatro impactos da apostila.
EXPLICAÇÃO: Os quatro impactos são os da apostila: custo do capital, nível de juros, volume de investimentos de longo prazo e desenvolvimento do mercado de capitais.
EXEMPLO: Para o investidor, juros altos também têm outro lado: a renda fixa paga mais. Mas, para o país, o investimento produtivo fica mais caro.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Tabela de quatro fatores com as duas pontas, e faixa com as faixas de mercado.
EXPLICAÇÃO: A apostila lista os quatro fatores, sem número de meses. As faixas de 3 a 6 meses (renda estável) e até 12 meses (renda variável) são prática de mercado, e não norma. Medida em meses de DESPESA, e não de renda.
EXEMPLO: Marina é CLT, mas tem um filho: a meta razoável é 6 meses × R$ 9.600 = R$ 57.600. Hoje ela tem R$ 28.800 líquidos: falta R$ 28.800. Poupando R$ 2.400 por mês a 0,8% a.m., leva cerca de 11,5 meses (12 depósitos). HP12C: f REG · 0,8 i · 28800 FV · 2400 CHS PMT · n → 12,00 (a HP12C arredonda n para o inteiro de cima; a conta exata dá 11,50 meses).
NA PROVA: Correção do material X8 (A5125-7): ele liga o tamanho da reserva ao perfil de suitability (conservador 12, moderado 6, arrojado 3 a 4 meses). A apostila liga a renda, profissão, dependentes e despesas, e não ao perfil de risco. Use os fatores.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Duas colunas: o que serve e o que não serve para a reserva; a segunda em destaque.
EXPLICAÇÃO: A reserva é a base da segurança financeira. O critério é liquidez e baixo risco; a rentabilidade vem depois. O FGC cobre depósitos e títulos bancários até um limite por CPF e instituição (conferir o valor vigente antes de citar).
EXEMPLO: Resposta parcial à Marina: os R$ 28.800 de liquidez imediata não podem ir para o fundo imobiliário, porque são a reserva dela, e ainda pequena.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Caso, comando e quatro alternativas em grade 2 × 2.
CONDUÇÃO: Dê 1 minuto. Peça a letra no chat antes de mostrar o gabarito.
GABARITO: Letra B. Renda variável e dependentes pedem reserva maior (até 12 meses, prática de mercado), em ativos líquidos e de baixo risco. A) ações oscilam e liquidam em D+2; não servem para reserva. C) CDB com vencimento longo não tem a liquidez necessária. D) renda alta não dispensa reserva; renda variável aumenta a necessidade.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Tabela do balanço com ativos à esquerda e passivos à direita.
EXPLICAÇÃO: O balanço organiza tudo o que a pessoa possui e tudo o que deve. Dá visão clara da saúde financeira e é a base de decisões. Os bens entram pelo valor de hoje.
EXEMPLO: Dos R$ 30.000 do carro, R$ 18.000 vencem nos próximos 12 meses: vão para o passivo de curto prazo junto com a fatura (R$ 6.000), somando R$ 24.000. Esse número volta na liquidez.
CONDUÇÃO: Deixe a turma olhar 30 segundos e perguntar: 'Marina é rica?'. A resposta vem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Duas colunas comparando uso e não uso, com os números da Marina.
EXPLICAÇÃO: O que decide é o uso, e não o tipo de bem: o mesmo apartamento é de uso se a família mora nele e de não uso se está alugado.
EXEMPLO: Marina: uso = apartamento (450.000) + carro (60.000) = 510.000, ou 83% do ativo. Não uso = 28.800 + 14.400 + 20.000 + 40.000 = 103.200. A casa enche o balanço, mas não paga a aposentadoria.
NA PROVA: Pegadinha: 'imóvel alugado é ativo de uso'. Errado: gera renda, então é não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Três cartões de números calculados a partir do balanço; o terceiro em destaque.
EXPLICAÇÃO: PL = ativos − passivos. Não confundir com o total de ativos.
EXEMPLO: HP12C: f REG · 613200 ENTER 246000 − → 367.200,00 · 613200 ENTER 510000 %T → 83,17.
CONDUÇÃO: Volte à pergunta: 'Marina é rica?'. Ela tem R$ 367 mil de patrimônio, mas só R$ 103 mil trabalham, e só R$ 28,8 mil são de acesso imediato.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Faixa com a pergunta e três cartões: fórmula, resultado e meta.
EXPLICAÇÃO: A apostila define a cobertura como o tempo que o patrimônio disponível cobre as despesas mensais, sem fórmula. A fórmula usada aqui é a do material X8 (A5126): ativos líquidos ÷ despesas mensais. Convenção de mercado, não norma.
EXEMPLO: HP12C: 28800 ENTER 9600 ÷ → 3,00. Ações e previdência ficam fora: não viram dinheiro rápido sem risco de perda.
NA PROVA: Erro comum: dividir pela RENDA. A cobertura usa a DESPESA, porque é o que precisa ser pago sem salário.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Três cartões: fórmula, resultado da Marina e uso do indicador.
EXPLICAÇÃO: Índice de poupança = valor poupado no período ÷ renda total do período (apostila, p. 88). Ajuda a acompanhar a evolução e a fixar metas consistentes.
EXEMPLO: HP12C: 12000 ENTER 2400 %T → 20,00. Se o 13º salário entrar no ano, o cálculo anual muda; compare sempre períodos iguais.
NA PROVA: Pegadinha: usar a despesa no denominador. O índice é sobre a RENDA.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
RECURSO VISUAL: Quatro frases numeradas em grade 2 × 2 e a linha de respostas.
CONDUÇÃO: Leia as quatro frases e peça 'C' ou 'E' no chat para cada uma. Revele as respostas no rodapé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Caso, comando e quatro alternativas em grade 2 × 2.
GABARITO: Letra A. Poupança = 20.000 − 16.000 = 4.000; índice = 4.000 ÷ 20.000 = 20%. Cobertura = 48.000 ÷ 16.000 = 3 meses. B) 25% usa a despesa no denominador (4.000 ÷ 16.000). C) 2,4 meses divide pela renda (48.000 ÷ 20.000). D) 80% é a parcela gasta, e não a poupada.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Cartão de definição, balão com a fala do cliente e cartão de ação.
EXPLICAÇÃO: Definição da apostila (p. 88). O ponto que mais se perde: liquidez não é só velocidade; é velocidade sem perda relevante de valor.
EXEMPLO: As ações da Marina podem ser vendidas hoje, mas, numa queda de 20%, ela venderia com prejuízo. Rapidez sem preço não protege.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Duas colunas: reserva líquida e reserva ilíquida; a segunda em destaque.
EXPLICAÇÃO: Apostila, p. 88: a reserva de emergência exige liquidez imediata. Por isso a necessidade de ativos líquidos é calculada a partir da reserva: quanto maior a reserva necessária, maior a parcela da carteira em liquidez.
EXEMPLO: Resposta à Marina: se ela puser os R$ 28.800 no fundo imobiliário, um imprevisto a obriga a vender as cotas no preço do dia, que pode estar em 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Tabela de três linhas, da maior para a menor liquidez.
EXPLICAÇÃO: Apostila, p. 88: existe, em geral, relação inversa entre liquidez e rentabilidade. A tabela é ilustrativa, sem taxas: as taxas mudam com o cenário. O material X8 (A5127-5) traz taxas de exemplo, que não usamos porque envelhecem.
EXEMPLO: Marina: os R$ 28.800 ficam em liquidez (reserva); os R$ 14.400 do CDB que vence em 8 meses podem ir para a reserva no vencimento; a previdência é dinheiro de longo prazo. Cada parte no seu lugar.
NA PROVA: Pegadinha: 'o investidor deve sempre buscar a maior liquidez'. Errado: liquidez em excesso custa retorno. O equilíbrio depende do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Faixa com a fórmula e três cartões: numerador, denominador e resultado.
EXPLICAÇÃO: Fórmula da apostila (p. 89). Valores acima de 1 indicam folga no curto prazo. A janela de 12 meses é a convenção adotada (material X8, A5127-9).
EXEMPLO: HP12C: f REG f 2 · 28800 ENTER 14400 + → 43.200 · 6000 ENTER 18000 + → 24.000 · ÷ → 1,80. Ações e previdência ficam fora: não são ativos de curto prazo.
NA PROVA: Erro comum: colocar o financiamento inteiro do carro (R$ 30.000) no passivo de curto prazo. Só entra o que vence em até 12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Três cartões comparando corrente e seca; a seca em destaque.
EXPLICAÇÃO: A apostila diz só que a liquidez seca exclui ativos de menor liquidez e dá uma visão mais conservadora, sem fórmula. Adotamos a convenção do material X8 (A5127-8): apenas caixa e aplicações de resgate imediato no numerador. Convenção de mercado, e não norma.
EXEMPLO: HP12C: 28800 ENTER 24000 ÷ → 1,20. Marina paga tudo o que vence no ano mesmo antes de o CDB vencer, com sobra de 20%.
NA PROVA: Correção do material X8 (A5127): um slide diz que a corrente usa só o que se acessa rápido, e o quadro comparativo diz 'todos os ativos de curto prazo'. A regra coerente: corrente = todo o curto prazo; seca = só o imediato.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Caso, comando e quatro alternativas em grade 2 × 2.
GABARITO: Letra A. Corrente = 60.000 ÷ 40.000 = 1,5. Seca = 25.000 ÷ 40.000 = 0,625 ≈ 0,63. O cliente cobre o que vence no ano, mas não consegue pagar tudo agora sem esperar vencimentos. B) inverte numerador e denominador. C) a seca exclui os ativos menos líquidos. D) a seca é sempre menor ou igual à corrente.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
RECURSO VISUAL: Lista numerada de cinco ideias; a última com marcador dourado.
CONDUÇÃO: Leia em voz alta e peça à turma que repita a fórmula da cobertura e a da liquidez seca.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3,5 min
RECURSO VISUAL: Caso da Marina, comando e quatro alternativas em grade 2 × 2.
CONDUÇÃO: Feche o caso aberto no slide 3: esta é a resposta à pergunta da Marina.
GABARITO: Letra B. Os R$ 28.800 são a reserva dela e cobrem só 3 meses; com um filho, a meta razoável é 6 meses (R$ 57.600). Poupando R$ 2.400 por mês, ela completa em cerca de 12 depósitos; depois disso, pode direcionar a poupança para renda. A) a liquidez seca mede o curto prazo, mas o dinheiro que dá folga é justamente a reserva: aplicá-lo em fundo imobiliário derruba a seca. C) repor R$ 28.800 levaria cerca de 12 meses, e ela ficaria sem reserva nesse tempo. D) previdência não tem a liquidez exigida pela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
RECURSO VISUAL: Capa de encerramento com logo X8 e a próxima aula.
CONDUÇÃO: Agradeça, lembre que o passivo de curto prazo da Marina volta na próxima aula, quando falarmos de comprometimento de renda e endividamento (2.3).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8_CAPA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incipal/aulas-certificacoes/materiais/cpro-r/aula-3-capacidade-poupanca-liquidez/logo-x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14300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8_CONTEUDO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incipal/aulas-certificacoes/materiais/cpro-r/aula-3-capacidade-poupanca-liquidez/logo-x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</a:rPr>
              <a:t>X8 EDUCAÇÃO  ·  C-PRO R  ·  AULA 3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C-PRO R  ·  AULA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sobra, quanto dura e quão rápido vira dinheiro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 e 2.2 do programa detalhado ANBIMA: capacidade de poupança e liquidez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foco é aprender. A aprovação é consequência.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guiam os 60 minutos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48128" cy="2514600"/>
          </a:xfrm>
          <a:prstGeom prst="roundRect">
            <a:avLst>
              <a:gd name="adj" fmla="val 254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sobra?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22280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Renda, idade, padrão de vida, planejamento, poupança do país e reserva de emergência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2.1.1 a 2.1.4</a:t>
            </a:r>
            <a:endParaRPr lang="en-US" sz="1300" dirty="0"/>
          </a:p>
        </p:txBody>
      </p:sp>
      <p:sp>
        <p:nvSpPr>
          <p:cNvPr id="9" name="seta"/>
          <p:cNvSpPr/>
          <p:nvPr/>
        </p:nvSpPr>
        <p:spPr>
          <a:xfrm>
            <a:off x="3069336" y="242773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3297936" y="1280160"/>
            <a:ext cx="2548128" cy="2514600"/>
          </a:xfrm>
          <a:prstGeom prst="roundRect">
            <a:avLst>
              <a:gd name="adj" fmla="val 254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3480816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08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80816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vale e quanto dura?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80816" y="2468880"/>
            <a:ext cx="22280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pessoal, ativos de uso e não uso, cobertura de despesas e índice de poupança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2.1.5 a 2.1.7</a:t>
            </a:r>
            <a:endParaRPr lang="en-US" sz="1300" dirty="0"/>
          </a:p>
        </p:txBody>
      </p:sp>
      <p:sp>
        <p:nvSpPr>
          <p:cNvPr id="15" name="seta"/>
          <p:cNvSpPr/>
          <p:nvPr/>
        </p:nvSpPr>
        <p:spPr>
          <a:xfrm>
            <a:off x="5910072" y="242773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138672" y="1280160"/>
            <a:ext cx="2548128" cy="2514600"/>
          </a:xfrm>
          <a:prstGeom prst="roundRect">
            <a:avLst>
              <a:gd name="adj" fmla="val 2545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6321552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155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21552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Quão rápido vira dinheiro?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21552" y="2468880"/>
            <a:ext cx="22280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Liquidez, reserva, liquidez × rentabilidade, liquidez corrente e liquidez seca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2.2.1 a 2.2.4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59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do programa (Análise de informações do cliente) = 20% do programa da C-PRO 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DA AULA · PERGUNTA RÁPIDA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Marina, 36 anos, CLT, um filho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70432"/>
            <a:ext cx="8229600" cy="6400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pergunta: "Ganho bem. Posso colocar tudo o que tenho num fundo imobiliário para ter renda?"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57200" y="1938528"/>
            <a:ext cx="2596896" cy="2404872"/>
          </a:xfrm>
          <a:prstGeom prst="roundRect">
            <a:avLst>
              <a:gd name="adj" fmla="val 266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LÍQUIDA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R$ 12.000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218688"/>
            <a:ext cx="22311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salário estável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3273552" y="1938528"/>
            <a:ext cx="2596896" cy="2404872"/>
          </a:xfrm>
          <a:prstGeom prst="roundRect">
            <a:avLst>
              <a:gd name="adj" fmla="val 266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74720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R$ 9.600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18688"/>
            <a:ext cx="22311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mês: fixas R$ 6.600 e variáveis R$ 3.000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6089904" y="1938528"/>
            <a:ext cx="2596896" cy="2404872"/>
          </a:xfrm>
          <a:prstGeom prst="roundRect">
            <a:avLst>
              <a:gd name="adj" fmla="val 266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91072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218688"/>
            <a:ext cx="22311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ela consegue poupar? E quanto tempo aguentaria sem salário?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 de poupança: o pilar da análise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2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 pessoa consegue poupar de forma recorrente e sustentável ao longo do tempo. Vem antes de produto, alocação ou risco.</a:t>
            </a:r>
            <a:endParaRPr lang="en-US" sz="1400" dirty="0"/>
          </a:p>
        </p:txBody>
      </p:sp>
      <p:sp>
        <p:nvSpPr>
          <p:cNvPr id="7" name="fala"/>
          <p:cNvSpPr/>
          <p:nvPr/>
        </p:nvSpPr>
        <p:spPr>
          <a:xfrm>
            <a:off x="452628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FALA DO CLIENTE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72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"Quando sobra, eu guardo."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26280" y="2487168"/>
            <a:ext cx="4160520" cy="1124712"/>
          </a:xfrm>
          <a:prstGeom prst="roundRect">
            <a:avLst>
              <a:gd name="adj" fmla="val 569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2744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AGIR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sobra eventual por decisão estrutural: um valor definido, todo mês, como se fosse despesa obrigatória.</a:t>
            </a:r>
            <a:endParaRPr lang="en-US" sz="1300" dirty="0"/>
          </a:p>
        </p:txBody>
      </p:sp>
      <p:sp>
        <p:nvSpPr>
          <p:cNvPr id="13" name="na-prova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Poupar não é "sobrar dinheiro": é decisão influenciada por renda, idade, padrão de vida, obrigações e comportamento.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idade e padrão de vida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alta não garante poupança alta. Renda modesta, com disciplina, pode gerar poupança relevante.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28600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Poupança típica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crescimento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iniciais altas (casa, carro, família)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Meia-idade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Compromissos familiares, menos dependência inicial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velho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Estabilizada ou em queda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do patrimônio acumulado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vida: quanto maior o consumo em relação à renda, menor a margem para poupar, em qualquer faixa de renda.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que garantem a poupança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graduais de consumo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aos poucos, sem trocar de vida de uma vez: o que é sustentável se mantém</a:t>
            </a:r>
            <a:endParaRPr lang="en-US" sz="1300" dirty="0"/>
          </a:p>
        </p:txBody>
      </p:sp>
      <p:sp>
        <p:nvSpPr>
          <p:cNvPr id="9" name="seta"/>
          <p:cNvSpPr/>
          <p:nvPr/>
        </p:nvSpPr>
        <p:spPr>
          <a:xfrm>
            <a:off x="306933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3297936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3480816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08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80816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de objetivos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80816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primeiro, depois os objetivos com data: nem tudo cabe ao mesmo tempo</a:t>
            </a:r>
            <a:endParaRPr lang="en-US" sz="1300" dirty="0"/>
          </a:p>
        </p:txBody>
      </p:sp>
      <p:sp>
        <p:nvSpPr>
          <p:cNvPr id="15" name="seta"/>
          <p:cNvSpPr/>
          <p:nvPr/>
        </p:nvSpPr>
        <p:spPr>
          <a:xfrm>
            <a:off x="591007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138672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6321552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155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21552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Automatização dos aportes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21552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programada no dia do salário: a poupança sai antes do consumo</a:t>
            </a:r>
            <a:endParaRPr lang="en-US" sz="1300" dirty="0"/>
          </a:p>
        </p:txBody>
      </p:sp>
      <p:sp>
        <p:nvSpPr>
          <p:cNvPr id="21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 profissional é adequar o padrão de vida à realidade financeira, sem comprometer a qualidade de vida.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para formar poupança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claros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é o dinheiro e quando será usado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235915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2587752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2770632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Receitas e despesas mapeadas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que entra e o que sai, inclusive o que é anual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>
            <a:off x="4489704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18304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4901184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mensais realistas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que caiba na renda, e não um desejo</a:t>
            </a:r>
            <a:endParaRPr lang="en-US" sz="1200" dirty="0"/>
          </a:p>
        </p:txBody>
      </p:sp>
      <p:sp>
        <p:nvSpPr>
          <p:cNvPr id="21" name="seta"/>
          <p:cNvSpPr/>
          <p:nvPr/>
        </p:nvSpPr>
        <p:spPr>
          <a:xfrm>
            <a:off x="662025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848856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marcador"/>
          <p:cNvSpPr/>
          <p:nvPr/>
        </p:nvSpPr>
        <p:spPr>
          <a:xfrm>
            <a:off x="7031736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Mecanismos automáticos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programado, tratado como despesa obrigatória</a:t>
            </a:r>
            <a:endParaRPr lang="en-US" sz="1200" dirty="0"/>
          </a:p>
        </p:txBody>
      </p:sp>
      <p:sp>
        <p:nvSpPr>
          <p:cNvPr id="27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Poupar de forma esporádica tende a falhar; poupar de forma planejada tende a se sustentar.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poupança do país financia o investimento do país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POUPANÇA · 2025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14,4%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PIB: o que o Brasil poupou (IBGE)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3273552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INVESTIMENTO · 2025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PIB: o que o Brasil investiu (IBGE)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6089904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91072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Poupança externa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país investe mais do que poupa e depende de capital de fora para fechar a conta</a:t>
            </a:r>
            <a:endParaRPr lang="en-US" sz="1250" dirty="0"/>
          </a:p>
        </p:txBody>
      </p:sp>
      <p:sp>
        <p:nvSpPr>
          <p:cNvPr id="16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= C + G + I + (X − M): sem poupança interna, o investimento depende de capital externo, que é mais caro e instável.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baixa poupança custa ao Brasil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4000500" cy="1152144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21792" y="1371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344168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capital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83080"/>
            <a:ext cx="3689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escasso é dinheiro caro: empresas pagam mais para se financiar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86300" y="1234440"/>
            <a:ext cx="4000500" cy="1152144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marcador"/>
          <p:cNvSpPr/>
          <p:nvPr/>
        </p:nvSpPr>
        <p:spPr>
          <a:xfrm>
            <a:off x="4850892" y="1371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089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89804" y="1344168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juros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50892" y="1783080"/>
            <a:ext cx="3689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poupança disponível pressiona as taxas para cima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57200" y="2615184"/>
            <a:ext cx="4000500" cy="1152144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marcador"/>
          <p:cNvSpPr/>
          <p:nvPr/>
        </p:nvSpPr>
        <p:spPr>
          <a:xfrm>
            <a:off x="621792" y="275234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272491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de longo prazo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163824"/>
            <a:ext cx="3689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volume de obras, fábricas e infraestrutura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686300" y="2615184"/>
            <a:ext cx="4000500" cy="1152144"/>
          </a:xfrm>
          <a:prstGeom prst="roundRect">
            <a:avLst>
              <a:gd name="adj" fmla="val 5556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marcador"/>
          <p:cNvSpPr/>
          <p:nvPr/>
        </p:nvSpPr>
        <p:spPr>
          <a:xfrm>
            <a:off x="4850892" y="2752344"/>
            <a:ext cx="329184" cy="32918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0892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89804" y="272491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capitais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50892" y="3163824"/>
            <a:ext cx="3689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mais lento: menos gente comprando ações e títulos de longo prazo</a:t>
            </a:r>
            <a:endParaRPr lang="en-US" sz="1200" dirty="0"/>
          </a:p>
        </p:txBody>
      </p:sp>
      <p:sp>
        <p:nvSpPr>
          <p:cNvPr id="24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decisão individual de poupar ao ambiente econômico é parte do trabalho do profissional.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de emergência: o tamanho depende do cliente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= despesa mensal × meses de segurança. Os meses dependem de quatro fatores: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menor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maior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Estabilidade da renda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Salário estável (CLT, servidor)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variável, autônomo, comissionado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profissão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com recolocação rápida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Profissão sazonal ou de nicho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Filhos, pais ou cônjuge dependentes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fixas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Baixas em relação à renda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Altas e difíceis de cortar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6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de mercado: 3 a 6 meses de despesa para renda estável; até 12 meses para renda variável. Não é regra da norma.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2.1.4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fica a reserva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para a reserva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liquidez: D+0 ou D+1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 de crédito e de mercado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Tesouro Selic, fundo DI, CDB de liquidez diária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não é a prioridade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serve para a reserva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 fundos imobiliários: oscilam e liquidam em D+2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 com carência ou vencimento longo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Previdência: resgate demorado e com imposto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Imóvel: venda leva meses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reserva, o investidor toma decisões forçadas e emocionalmente custosas: vende no pior momento.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1 · 2.1.4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é dentista autônomo, com renda que varia muito ao longo do ano, dois filhos e despesas mensais de R$ 15.000. Ele não tem reserva de emergência e pede ao assessor uma recomendação para começar.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orientação está mais adequada?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cerca de 3 meses de despesa em ações de primeira linha, que têm boa liquidez</a:t>
            </a:r>
            <a:endParaRPr lang="en-US" sz="120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uma reserva maior, de até 12 meses de despesa, em ativos de liquidez diária e baixo risco</a:t>
            </a:r>
            <a:endParaRPr lang="en-US" sz="1200" dirty="0"/>
          </a:p>
        </p:txBody>
      </p:sp>
      <p:sp>
        <p:nvSpPr>
          <p:cNvPr id="15" name="alternativa"/>
          <p:cNvSpPr/>
          <p:nvPr/>
        </p:nvSpPr>
        <p:spPr>
          <a:xfrm>
            <a:off x="457200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6 meses de despesa em CDB com vencimento em 2 anos, que rende mais</a:t>
            </a:r>
            <a:endParaRPr lang="en-US" sz="120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 a reserva, porque a renda dele é alta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2.1.5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balanço patrimonial da Marina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é a foto: tudo o que a pessoa tem e tudo o que deve, numa data.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292608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Conta, Tesouro Selic e CDB diário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 do cartão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CDB que vence em 8 meses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Financiamento do carro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Ações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Financiamento do apartamento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Previdência privada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Apartamento de moradia · Carro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450.000 · 60.000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ativos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613.200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passivos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2.1.5.1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Ativos de uso e de não uso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Uso: mora com você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Moradia, veículos, bens pessoais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geram renda direta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custo: IPTU, condomínio, seguro, manutenção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Marina: R$ 510.000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uso: trabalha para você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Investimentos, imóveis para renda, participações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renda ou valorização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 os objetivos futuros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Marina: R$ 103.200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evita superestimar o patrimônio: só o não uso contribui diretamente para os objetivos financeiros.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2.1.5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balanço revela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45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613.200 − 246.000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8424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R$ 367.200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7063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menos passivos: a riqueza efetiva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3273552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DOS ATIVOS DE USO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645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510.000 ÷ 613.200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8424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7063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quatro quintos do que ela tem é casa e carro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6089904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91072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TRABALHA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1645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198424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R$ 103.200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77063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daqui que saem reserva, objetivos e aposentadoria</a:t>
            </a:r>
            <a:endParaRPr lang="en-US" sz="1250" dirty="0"/>
          </a:p>
        </p:txBody>
      </p:sp>
      <p:sp>
        <p:nvSpPr>
          <p:cNvPr id="19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grande não é patrimônio disponível. Antes de recomendar, separe o que é uso do que é não uso.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2.1.6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de despesas mensais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70432"/>
            <a:ext cx="8229600" cy="6400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quantos meses a Marina mantém o padrão de vida se o salário parar amanhã?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57200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Ativos líquidos ÷ despesa mensal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21868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que vira dinheiro rápido, sem perda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3273552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74720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28.800 ÷ 9.600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meses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piso da faixa de renda estável</a:t>
            </a:r>
            <a:endParaRPr lang="en-US" sz="1250" dirty="0"/>
          </a:p>
        </p:txBody>
      </p:sp>
      <p:sp>
        <p:nvSpPr>
          <p:cNvPr id="15" name="card"/>
          <p:cNvSpPr/>
          <p:nvPr/>
        </p:nvSpPr>
        <p:spPr>
          <a:xfrm>
            <a:off x="6089904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91072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× 9.600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R$ 57.600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filho, dobrar a cobertura</a:t>
            </a:r>
            <a:endParaRPr lang="en-US" sz="1250" dirty="0"/>
          </a:p>
        </p:txBody>
      </p:sp>
      <p:sp>
        <p:nvSpPr>
          <p:cNvPr id="20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mostra a resiliência do cliente a imprevistos e orienta as decisões de liquidez e risco.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2.1.7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poupança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poupado ÷ renda do período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da renda que vira poupança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3273552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 ÷ 12.000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8424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7063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R$ 100 que entram, R$ 20 são poupados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6089904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91072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Acompanhar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evolução ao longo do tempo e as metas de acumulação</a:t>
            </a:r>
            <a:endParaRPr lang="en-US" sz="1250" dirty="0"/>
          </a:p>
        </p:txBody>
      </p:sp>
      <p:sp>
        <p:nvSpPr>
          <p:cNvPr id="17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período nos dois lados: poupança do mês sobre renda do mês, ou do ano sobre o ano.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RÁPIDA · CERTO OU ERRADO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frases em 90 segundos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62179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é o total de ativos da família.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70916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487375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 alugado a terceiros é ativo de não uso.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45720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marcador"/>
          <p:cNvSpPr/>
          <p:nvPr/>
        </p:nvSpPr>
        <p:spPr>
          <a:xfrm>
            <a:off x="62179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cobertura de despesas divide os ativos líquidos pela renda mensal.</a:t>
            </a:r>
            <a:endParaRPr lang="en-US" sz="1350" dirty="0"/>
          </a:p>
        </p:txBody>
      </p:sp>
      <p:sp>
        <p:nvSpPr>
          <p:cNvPr id="16" name="card"/>
          <p:cNvSpPr/>
          <p:nvPr/>
        </p:nvSpPr>
        <p:spPr>
          <a:xfrm>
            <a:off x="470916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marcador"/>
          <p:cNvSpPr/>
          <p:nvPr/>
        </p:nvSpPr>
        <p:spPr>
          <a:xfrm>
            <a:off x="487375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de poupança divide o valor poupado pela renda do período.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Respostas: 1 errado (ativos − passivos) · 2 certo · 3 errado (é pela despesa) · 4 certo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2 · 2.1.6 E 2.1.7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tem renda líquida de R$ 20.000 por mês, despesas mensais de R$ 16.000 e R$ 48.000 em ativos de liquidez diária. Ele não tem outras aplicações.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de poupança e a cobertura de despesas mensais são, respectivamente: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e 3 meses</a:t>
            </a:r>
            <a:endParaRPr lang="en-US" sz="120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e 2,4 meses</a:t>
            </a:r>
            <a:endParaRPr lang="en-US" sz="1200" dirty="0"/>
          </a:p>
        </p:txBody>
      </p:sp>
      <p:sp>
        <p:nvSpPr>
          <p:cNvPr id="15" name="alternativa"/>
          <p:cNvSpPr/>
          <p:nvPr/>
        </p:nvSpPr>
        <p:spPr>
          <a:xfrm>
            <a:off x="457200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e 2,4 meses</a:t>
            </a:r>
            <a:endParaRPr lang="en-US" sz="120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 3 meses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2.2.1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Liquidez: virar dinheiro sem perder valor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2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com que um ativo vira dinheiro, sem perda relevante de valor. Quanto maior a liquidez, menor o risco de vender em condições desfavoráveis.</a:t>
            </a:r>
            <a:endParaRPr lang="en-US" sz="1400" dirty="0"/>
          </a:p>
        </p:txBody>
      </p:sp>
      <p:sp>
        <p:nvSpPr>
          <p:cNvPr id="7" name="fala"/>
          <p:cNvSpPr/>
          <p:nvPr/>
        </p:nvSpPr>
        <p:spPr>
          <a:xfrm>
            <a:off x="452628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FALA DO CLIENTE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72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"Posso vender quando eu quiser, então é líquido."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26280" y="2487168"/>
            <a:ext cx="4160520" cy="1124712"/>
          </a:xfrm>
          <a:prstGeom prst="roundRect">
            <a:avLst>
              <a:gd name="adj" fmla="val 569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2744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AGIR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duas coisas: em quanto tempo o dinheiro cai na conta e por quanto o ativo seria vendido naquele dia.</a:t>
            </a:r>
            <a:endParaRPr lang="en-US" sz="1300" dirty="0"/>
          </a:p>
        </p:txBody>
      </p:sp>
      <p:sp>
        <p:nvSpPr>
          <p:cNvPr id="13" name="na-prova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tem duas dimensões: prazo e preço. Vender rápido com perda grande não é liquidez.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2.2.2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 e reserva de emergência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em ativo líquido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disponível no dia do imprevisto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vender nada com prejuízo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pagar juros de cheque especial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Cumpre a função da reserva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em ativo ilíquido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preso quando mais se precisa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forçada, no pior preço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a crédito caro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 deixa de ser reserva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 exige liquidez imediata. Alocá-la em ativos ilíquidos compromete a função principal dela.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2.2.2.1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 × rentabilidade: a troca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geral, a relação é inversa: quem abre mão da liquidez cobra por isso.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828800"/>
                <a:gridCol w="2286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(exemplo)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Selic, CDB diário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D+0 a D+1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de emergência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CDB com vencimento em 2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vencimento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com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Previdência, fundos de prazo longo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no longo 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Aposentadoria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é equilibrar: cada parte do dinheiro tem o seu objetivo, e o objetivo define quanta liquidez ele precisa.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2.2.3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 corrente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70432"/>
            <a:ext cx="8229600" cy="6400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de curto prazo ÷ passivos de curto prazo. Curto prazo = o que vence ou se resgata em até 12 meses.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57200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DE CURTO PRAZO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28.800 + 14.400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R$ 43.200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mais CDB de 8 meses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3273552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PASSIVOS DE CURTO PRAZO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6.000 + 18.000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R$ 24.000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mais carro em 12 meses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6089904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91072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43.200 ÷ 24.000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1: folga no ano</a:t>
            </a:r>
            <a:endParaRPr lang="en-US" sz="1250" dirty="0"/>
          </a:p>
        </p:txBody>
      </p:sp>
      <p:sp>
        <p:nvSpPr>
          <p:cNvPr id="21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1: folga. Igual a 1: equilíbrio sem margem. Abaixo de 1: o que vence no curto prazo é maior que o que vira dinheiro.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2.2.4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 seca: só o que vira dinheiro agora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70432"/>
            <a:ext cx="8229600" cy="6400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de resgate imediato ÷ passivos de curto prazo. Sai o que depende de prazo, venda de bens ou vencimento.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57200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43.200 ÷ 24.000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o que vence no ano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3273552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SECA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28.800 ÷ 24.000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7472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agora, sem esperar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6089904" y="1938528"/>
            <a:ext cx="2596896" cy="1719072"/>
          </a:xfrm>
          <a:prstGeom prst="roundRect">
            <a:avLst>
              <a:gd name="adj" fmla="val 372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91072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conservadora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21868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menor ou igual à corrente</a:t>
            </a:r>
            <a:endParaRPr lang="en-US" sz="1250" dirty="0"/>
          </a:p>
        </p:txBody>
      </p:sp>
      <p:sp>
        <p:nvSpPr>
          <p:cNvPr id="20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 acima de 1: fluxo tranquilo mesmo sem esperar nada vencer. Abaixo de 1: vulnerável no curtíssimo prazo.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3 · 2.2.3 E 2.2.4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tem R$ 60.000 em ativos de curto prazo, dos quais R$ 25.000 em aplicações de resgate imediato. Suas obrigações com vencimento nos próximos 12 meses somam R$ 40.000.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liquidez desse cliente, é correto afirmar que: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liquidez corrente é 1,5 e a seca é 0,63: há folga no ano, mas aperto imediato</a:t>
            </a:r>
            <a:endParaRPr lang="en-US" sz="115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liquidez corrente é 0,67 e a seca é 1,6: há aperto no ano, mas folga imediata</a:t>
            </a:r>
            <a:endParaRPr lang="en-US" sz="1150" dirty="0"/>
          </a:p>
        </p:txBody>
      </p:sp>
      <p:sp>
        <p:nvSpPr>
          <p:cNvPr id="15" name="alternativa"/>
          <p:cNvSpPr/>
          <p:nvPr/>
        </p:nvSpPr>
        <p:spPr>
          <a:xfrm>
            <a:off x="457200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são 1,5, porque usam os mesmos ativos</a:t>
            </a:r>
            <a:endParaRPr lang="en-US" sz="115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liquidez seca é maior que a corrente, porque considera só ativos seguros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ideias para levar</a:t>
            </a:r>
            <a:endParaRPr lang="en-US" sz="2400" dirty="0"/>
          </a:p>
        </p:txBody>
      </p:sp>
      <p:sp>
        <p:nvSpPr>
          <p:cNvPr id="4" name="marcador"/>
          <p:cNvSpPr/>
          <p:nvPr/>
        </p:nvSpPr>
        <p:spPr>
          <a:xfrm>
            <a:off x="457200" y="12710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71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070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poupança vem antes de produto: poupar é decisão estrutural, e não sobra</a:t>
            </a:r>
            <a:endParaRPr lang="en-US" sz="1450" dirty="0"/>
          </a:p>
        </p:txBody>
      </p:sp>
      <p:sp>
        <p:nvSpPr>
          <p:cNvPr id="7" name="marcador"/>
          <p:cNvSpPr/>
          <p:nvPr/>
        </p:nvSpPr>
        <p:spPr>
          <a:xfrm>
            <a:off x="457200" y="19568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928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país poupa pouco (14,4% do PIB em 2025): crédito caro e juros altos</a:t>
            </a:r>
            <a:endParaRPr lang="en-US" sz="1450" dirty="0"/>
          </a:p>
        </p:txBody>
      </p:sp>
      <p:sp>
        <p:nvSpPr>
          <p:cNvPr id="10" name="marcador"/>
          <p:cNvSpPr/>
          <p:nvPr/>
        </p:nvSpPr>
        <p:spPr>
          <a:xfrm>
            <a:off x="457200" y="26426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786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em meses de despesa, pelos fatores do cliente, sempre em ativos líquidos</a:t>
            </a:r>
            <a:endParaRPr lang="en-US" sz="1450" dirty="0"/>
          </a:p>
        </p:txBody>
      </p:sp>
      <p:sp>
        <p:nvSpPr>
          <p:cNvPr id="13" name="marcador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644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Balanço: separe uso de não uso. Cobertura = líquidos ÷ despesa. Índice = poupado ÷ renda</a:t>
            </a:r>
            <a:endParaRPr lang="en-US" sz="1450" dirty="0"/>
          </a:p>
        </p:txBody>
      </p:sp>
      <p:sp>
        <p:nvSpPr>
          <p:cNvPr id="16" name="marcador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502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é prazo e preço. Corrente usa todo o curto prazo; seca, só o imediato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INTEGRADORA · 2.1 E 2.2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integradora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60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Marina, CLT com um filho, tem despesas de R$ 9.600 por mês, R$ 28.800 em aplicações de liquidez diária, liquidez seca de 1,20 e índice de poupança de 20%. Ela quer aplicar os R$ 28.800 num fundo imobiliário para ter renda mensal.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orientação mais adequada?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77063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92608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77063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tudo, porque a liquidez seca acima de 1 mostra folga</a:t>
            </a:r>
            <a:endParaRPr lang="en-US" sz="115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77063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92608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77063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os R$ 28.800 como reserva (3 meses), completar 6 meses com a poupança mensal e só depois buscar renda</a:t>
            </a:r>
            <a:endParaRPr lang="en-US" sz="1150" dirty="0"/>
          </a:p>
        </p:txBody>
      </p:sp>
      <p:sp>
        <p:nvSpPr>
          <p:cNvPr id="15" name="alternativa"/>
          <p:cNvSpPr/>
          <p:nvPr/>
        </p:nvSpPr>
        <p:spPr>
          <a:xfrm>
            <a:off x="457200" y="352044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67588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52044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tudo, porque o índice de 20% repõe a reserva em poucos meses</a:t>
            </a:r>
            <a:endParaRPr lang="en-US" sz="115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52044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67588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52044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reserva por previdência, que rende mais no longo prazo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C-PRO R  ·  AULA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aula: endividamento e perfil do investidor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2.3 e 2.4 do programa detalhado ANBIMA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foco é aprender. A aprovação é consequência.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8 Educacao">
  <a:themeElements>
    <a:clrScheme name="X8 Educacao">
      <a:dk1>
        <a:srgbClr val="0A1628"/>
      </a:dk1>
      <a:lt1>
        <a:srgbClr val="FFFFFF"/>
      </a:lt1>
      <a:dk2>
        <a:srgbClr val="102040"/>
      </a:dk2>
      <a:lt2>
        <a:srgbClr val="E8EDF5"/>
      </a:lt2>
      <a:accent1>
        <a:srgbClr val="3B82F6"/>
      </a:accent1>
      <a:accent2>
        <a:srgbClr val="C9A45C"/>
      </a:accent2>
      <a:accent3>
        <a:srgbClr val="CADCFC"/>
      </a:accent3>
      <a:accent4>
        <a:srgbClr val="94A3B8"/>
      </a:accent4>
      <a:accent5>
        <a:srgbClr val="2563EB"/>
      </a:accent5>
      <a:accent6>
        <a:srgbClr val="1C3260"/>
      </a:accent6>
      <a:hlink>
        <a:srgbClr val="3B82F6"/>
      </a:hlink>
      <a:folHlink>
        <a:srgbClr val="CADCFC"/>
      </a:folHlink>
    </a:clrScheme>
    <a:fontScheme name="X8 Educaca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C-PRO R · Aula 3</dc:title>
  <dc:subject>PptxGenJS Presentation</dc:subject>
  <dc:creator>X8 Educação</dc:creator>
  <cp:lastModifiedBy>X8 Educação</cp:lastModifiedBy>
  <cp:revision>1</cp:revision>
  <dcterms:created xsi:type="dcterms:W3CDTF">2026-10-27T13:43:43Z</dcterms:created>
  <dcterms:modified xsi:type="dcterms:W3CDTF">2026-10-27T13:43:43Z</dcterms:modified>
</cp:coreProperties>
</file>